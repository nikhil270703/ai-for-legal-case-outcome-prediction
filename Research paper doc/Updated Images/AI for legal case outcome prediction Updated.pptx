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8"/>
  </p:notesMasterIdLst>
  <p:sldIdLst>
    <p:sldId id="280" r:id="rId2"/>
    <p:sldId id="281" r:id="rId3"/>
    <p:sldId id="288" r:id="rId4"/>
    <p:sldId id="287" r:id="rId5"/>
    <p:sldId id="286" r:id="rId6"/>
    <p:sldId id="285" r:id="rId7"/>
    <p:sldId id="284" r:id="rId8"/>
    <p:sldId id="283" r:id="rId9"/>
    <p:sldId id="282" r:id="rId10"/>
    <p:sldId id="289" r:id="rId11"/>
    <p:sldId id="290" r:id="rId12"/>
    <p:sldId id="297" r:id="rId13"/>
    <p:sldId id="293" r:id="rId14"/>
    <p:sldId id="294" r:id="rId15"/>
    <p:sldId id="292" r:id="rId16"/>
    <p:sldId id="298"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01" autoAdjust="0"/>
    <p:restoredTop sz="94660"/>
  </p:normalViewPr>
  <p:slideViewPr>
    <p:cSldViewPr>
      <p:cViewPr varScale="1">
        <p:scale>
          <a:sx n="75" d="100"/>
          <a:sy n="75" d="100"/>
        </p:scale>
        <p:origin x="1560" y="4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13ADEF-1232-40E6-AA0C-2DC4E3D89003}" type="datetimeFigureOut">
              <a:rPr lang="en-GB" smtClean="0"/>
              <a:pPr/>
              <a:t>28/03/2026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5E719B-CAD1-4CDF-AC07-FD62E51C143C}" type="slidenum">
              <a:rPr lang="en-GB" smtClean="0"/>
              <a:pPr/>
              <a:t>‹#›</a:t>
            </a:fld>
            <a:endParaRPr lang="en-GB"/>
          </a:p>
        </p:txBody>
      </p:sp>
    </p:spTree>
    <p:extLst>
      <p:ext uri="{BB962C8B-B14F-4D97-AF65-F5344CB8AC3E}">
        <p14:creationId xmlns:p14="http://schemas.microsoft.com/office/powerpoint/2010/main" val="3977812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2</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3</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4</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5</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6</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7</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8</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dirty="0">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9</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dirty="0">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10</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11</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9788288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3AEB9-6845-9DD1-2F2C-7037C4818446}"/>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9602A233-ADF0-0BC6-1246-9917F13D62B0}"/>
              </a:ext>
            </a:extLst>
          </p:cNvPr>
          <p:cNvSpPr>
            <a:spLocks noGrp="1" noChangeArrowheads="1"/>
          </p:cNvSpPr>
          <p:nvPr>
            <p:ph type="sldNum" sz="quarter" idx="5"/>
          </p:nvPr>
        </p:nvSpPr>
        <p:spPr/>
        <p:txBody>
          <a:bodyPr/>
          <a:lstStyle/>
          <a:p>
            <a:fld id="{6BFD01EB-C9A3-4136-A0B1-C6AEC703FF81}" type="slidenum">
              <a:rPr lang="en-US" smtClean="0"/>
              <a:t>12</a:t>
            </a:fld>
            <a:endParaRPr lang="en-US"/>
          </a:p>
        </p:txBody>
      </p:sp>
      <p:sp>
        <p:nvSpPr>
          <p:cNvPr id="1048605" name="Rectangle 2">
            <a:extLst>
              <a:ext uri="{FF2B5EF4-FFF2-40B4-BE49-F238E27FC236}">
                <a16:creationId xmlns:a16="http://schemas.microsoft.com/office/drawing/2014/main" id="{EDF05222-02C2-A455-6C0C-7A34E7177D53}"/>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ED2FED09-032E-B3ED-1063-46FD4313CED8}"/>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29104961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DD083-FB4C-9E69-D444-9BC2AF13625D}"/>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0BC226E4-83C9-B902-9B01-415DC4DA99F8}"/>
              </a:ext>
            </a:extLst>
          </p:cNvPr>
          <p:cNvSpPr>
            <a:spLocks noGrp="1" noChangeArrowheads="1"/>
          </p:cNvSpPr>
          <p:nvPr>
            <p:ph type="sldNum" sz="quarter" idx="5"/>
          </p:nvPr>
        </p:nvSpPr>
        <p:spPr/>
        <p:txBody>
          <a:bodyPr/>
          <a:lstStyle/>
          <a:p>
            <a:fld id="{6BFD01EB-C9A3-4136-A0B1-C6AEC703FF81}" type="slidenum">
              <a:rPr lang="en-US" smtClean="0"/>
              <a:t>13</a:t>
            </a:fld>
            <a:endParaRPr lang="en-US"/>
          </a:p>
        </p:txBody>
      </p:sp>
      <p:sp>
        <p:nvSpPr>
          <p:cNvPr id="1048605" name="Rectangle 2">
            <a:extLst>
              <a:ext uri="{FF2B5EF4-FFF2-40B4-BE49-F238E27FC236}">
                <a16:creationId xmlns:a16="http://schemas.microsoft.com/office/drawing/2014/main" id="{F9CD3820-2D58-B4B6-9C01-1207D91DAC94}"/>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6BCB912D-F407-A363-5FB5-1FC6623DC9F4}"/>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35564886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1A35A-D338-43FD-54A6-D6873D67E72E}"/>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59901480-7861-20F2-8A1D-605E8D2E4CD9}"/>
              </a:ext>
            </a:extLst>
          </p:cNvPr>
          <p:cNvSpPr>
            <a:spLocks noGrp="1" noChangeArrowheads="1"/>
          </p:cNvSpPr>
          <p:nvPr>
            <p:ph type="sldNum" sz="quarter" idx="5"/>
          </p:nvPr>
        </p:nvSpPr>
        <p:spPr/>
        <p:txBody>
          <a:bodyPr/>
          <a:lstStyle/>
          <a:p>
            <a:fld id="{6BFD01EB-C9A3-4136-A0B1-C6AEC703FF81}" type="slidenum">
              <a:rPr lang="en-US" smtClean="0"/>
              <a:t>14</a:t>
            </a:fld>
            <a:endParaRPr lang="en-US"/>
          </a:p>
        </p:txBody>
      </p:sp>
      <p:sp>
        <p:nvSpPr>
          <p:cNvPr id="1048605" name="Rectangle 2">
            <a:extLst>
              <a:ext uri="{FF2B5EF4-FFF2-40B4-BE49-F238E27FC236}">
                <a16:creationId xmlns:a16="http://schemas.microsoft.com/office/drawing/2014/main" id="{30CC53F6-2591-D6B3-7780-0CEE1D2E3B7F}"/>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8D7D8F6F-AECE-45AF-2BF3-FB030F514FF4}"/>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2196663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15</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6183763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34837-F152-E2FD-A475-49C3C72FB9A0}"/>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FC65E281-0A7F-7000-C31C-9600A54D3713}"/>
              </a:ext>
            </a:extLst>
          </p:cNvPr>
          <p:cNvSpPr>
            <a:spLocks noGrp="1" noChangeArrowheads="1"/>
          </p:cNvSpPr>
          <p:nvPr>
            <p:ph type="sldNum" sz="quarter" idx="5"/>
          </p:nvPr>
        </p:nvSpPr>
        <p:spPr/>
        <p:txBody>
          <a:bodyPr/>
          <a:lstStyle/>
          <a:p>
            <a:fld id="{6BFD01EB-C9A3-4136-A0B1-C6AEC703FF81}" type="slidenum">
              <a:rPr lang="en-US" smtClean="0"/>
              <a:t>16</a:t>
            </a:fld>
            <a:endParaRPr lang="en-US"/>
          </a:p>
        </p:txBody>
      </p:sp>
      <p:sp>
        <p:nvSpPr>
          <p:cNvPr id="1048605" name="Rectangle 2">
            <a:extLst>
              <a:ext uri="{FF2B5EF4-FFF2-40B4-BE49-F238E27FC236}">
                <a16:creationId xmlns:a16="http://schemas.microsoft.com/office/drawing/2014/main" id="{A8E9C929-102C-9DC6-1057-0F24FA5E3EAA}"/>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DB799AC3-5357-DA17-03EF-BB4C5811CD10}"/>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956350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93EE43D5-2594-4735-80B7-F0E4544112AC}" type="datetime1">
              <a:rPr lang="en-GB" smtClean="0"/>
              <a:t>28/03/2026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33F980D-9641-4D55-BA26-2EDCEA9EE1F9}" type="datetime1">
              <a:rPr lang="en-GB" smtClean="0"/>
              <a:t>28/03/2026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2637F8-03A0-4970-9A0A-BCE5C1C1EC0E}" type="datetime1">
              <a:rPr lang="en-GB" smtClean="0"/>
              <a:t>28/03/2026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DAAD62D7-D6ED-44F8-A2FC-AD370DF5A044}" type="datetime1">
              <a:rPr lang="en-GB" smtClean="0"/>
              <a:t>28/03/2026</a:t>
            </a:fld>
            <a:endParaRPr lang="en-GB"/>
          </a:p>
        </p:txBody>
      </p:sp>
      <p:sp>
        <p:nvSpPr>
          <p:cNvPr id="6" name="Footer Placeholder 5"/>
          <p:cNvSpPr>
            <a:spLocks noGrp="1"/>
          </p:cNvSpPr>
          <p:nvPr>
            <p:ph type="ftr" sz="quarter" idx="11"/>
          </p:nvPr>
        </p:nvSpPr>
        <p:spPr/>
        <p:txBody>
          <a:bodyPr/>
          <a:lstStyle/>
          <a:p>
            <a:r>
              <a:rPr lang="en-GB"/>
              <a:t>ICIMSI-2021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A74D6229-4D31-4440-844B-D28A91210DCE}" type="datetime1">
              <a:rPr lang="en-GB" smtClean="0"/>
              <a:t>28/03/2026</a:t>
            </a:fld>
            <a:endParaRPr lang="en-GB"/>
          </a:p>
        </p:txBody>
      </p:sp>
      <p:sp>
        <p:nvSpPr>
          <p:cNvPr id="8" name="Footer Placeholder 7"/>
          <p:cNvSpPr>
            <a:spLocks noGrp="1"/>
          </p:cNvSpPr>
          <p:nvPr>
            <p:ph type="ftr" sz="quarter" idx="11"/>
          </p:nvPr>
        </p:nvSpPr>
        <p:spPr/>
        <p:txBody>
          <a:bodyPr/>
          <a:lstStyle/>
          <a:p>
            <a:r>
              <a:rPr lang="en-GB"/>
              <a:t>ICIMSI-2021</a:t>
            </a:r>
          </a:p>
        </p:txBody>
      </p:sp>
      <p:sp>
        <p:nvSpPr>
          <p:cNvPr id="9" name="Slide Number Placeholder 8"/>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6EB690D-B474-4F2D-8063-C3D6525BFDB7}" type="datetime1">
              <a:rPr lang="en-GB" smtClean="0"/>
              <a:t>28/03/2026</a:t>
            </a:fld>
            <a:endParaRPr lang="en-GB"/>
          </a:p>
        </p:txBody>
      </p:sp>
      <p:sp>
        <p:nvSpPr>
          <p:cNvPr id="4" name="Footer Placeholder 3"/>
          <p:cNvSpPr>
            <a:spLocks noGrp="1"/>
          </p:cNvSpPr>
          <p:nvPr>
            <p:ph type="ftr" sz="quarter" idx="11"/>
          </p:nvPr>
        </p:nvSpPr>
        <p:spPr/>
        <p:txBody>
          <a:bodyPr/>
          <a:lstStyle/>
          <a:p>
            <a:r>
              <a:rPr lang="en-GB"/>
              <a:t>ICIMSI-2021</a:t>
            </a:r>
          </a:p>
        </p:txBody>
      </p:sp>
      <p:sp>
        <p:nvSpPr>
          <p:cNvPr id="5" name="Slide Number Placeholder 4"/>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5D96AC-A833-40E3-8856-0B511BFD0B34}" type="datetime1">
              <a:rPr lang="en-GB" smtClean="0"/>
              <a:t>28/03/2026</a:t>
            </a:fld>
            <a:endParaRPr lang="en-GB"/>
          </a:p>
        </p:txBody>
      </p:sp>
      <p:sp>
        <p:nvSpPr>
          <p:cNvPr id="3" name="Footer Placeholder 2"/>
          <p:cNvSpPr>
            <a:spLocks noGrp="1"/>
          </p:cNvSpPr>
          <p:nvPr>
            <p:ph type="ftr" sz="quarter" idx="11"/>
          </p:nvPr>
        </p:nvSpPr>
        <p:spPr/>
        <p:txBody>
          <a:bodyPr/>
          <a:lstStyle/>
          <a:p>
            <a:r>
              <a:rPr lang="en-GB"/>
              <a:t>ICIMSI-2021</a:t>
            </a:r>
          </a:p>
        </p:txBody>
      </p:sp>
      <p:sp>
        <p:nvSpPr>
          <p:cNvPr id="4" name="Slide Number Placeholder 3"/>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20C083-5B51-4A6F-8A8D-25BF65281288}" type="datetime1">
              <a:rPr lang="en-GB" smtClean="0"/>
              <a:t>28/03/2026</a:t>
            </a:fld>
            <a:endParaRPr lang="en-GB"/>
          </a:p>
        </p:txBody>
      </p:sp>
      <p:sp>
        <p:nvSpPr>
          <p:cNvPr id="6" name="Footer Placeholder 5"/>
          <p:cNvSpPr>
            <a:spLocks noGrp="1"/>
          </p:cNvSpPr>
          <p:nvPr>
            <p:ph type="ftr" sz="quarter" idx="11"/>
          </p:nvPr>
        </p:nvSpPr>
        <p:spPr/>
        <p:txBody>
          <a:bodyPr/>
          <a:lstStyle/>
          <a:p>
            <a:r>
              <a:rPr lang="en-GB"/>
              <a:t>ICIMSI-2021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158CEF-DEAA-4FD7-A123-4034F0FFBE51}" type="datetime1">
              <a:rPr lang="en-GB" smtClean="0"/>
              <a:t>28/03/2026</a:t>
            </a:fld>
            <a:endParaRPr lang="en-GB"/>
          </a:p>
        </p:txBody>
      </p:sp>
      <p:sp>
        <p:nvSpPr>
          <p:cNvPr id="6" name="Footer Placeholder 5"/>
          <p:cNvSpPr>
            <a:spLocks noGrp="1"/>
          </p:cNvSpPr>
          <p:nvPr>
            <p:ph type="ftr" sz="quarter" idx="11"/>
          </p:nvPr>
        </p:nvSpPr>
        <p:spPr/>
        <p:txBody>
          <a:bodyPr/>
          <a:lstStyle/>
          <a:p>
            <a:r>
              <a:rPr lang="en-GB"/>
              <a:t>ICIMSI-2021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90ED07B-0D58-4238-8D9E-3917EDEFBF11}" type="datetime1">
              <a:rPr lang="en-GB" smtClean="0"/>
              <a:t>28/03/2026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15D4D9-60EA-4115-9F62-3D25530A60C4}" type="datetime1">
              <a:rPr lang="en-GB" smtClean="0"/>
              <a:t>28/03/2026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03102E-B0BC-4EBE-905A-EE89488B9FC5}" type="datetime1">
              <a:rPr lang="en-GB" smtClean="0"/>
              <a:t>28/03/2026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ICIMSI-2021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C248AB-E565-412B-9D95-9B07D6A4F3F3}"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a:t>
            </a:fld>
            <a:endParaRPr lang="en-GB" b="1" dirty="0">
              <a:solidFill>
                <a:schemeClr val="tx1"/>
              </a:solidFill>
            </a:endParaRPr>
          </a:p>
        </p:txBody>
      </p:sp>
      <p:sp>
        <p:nvSpPr>
          <p:cNvPr id="4" name="TextBox 3"/>
          <p:cNvSpPr txBox="1"/>
          <p:nvPr/>
        </p:nvSpPr>
        <p:spPr>
          <a:xfrm>
            <a:off x="539552" y="1484784"/>
            <a:ext cx="8091772" cy="5078313"/>
          </a:xfrm>
          <a:prstGeom prst="rect">
            <a:avLst/>
          </a:prstGeom>
          <a:noFill/>
        </p:spPr>
        <p:txBody>
          <a:bodyPr wrap="square" rtlCol="0">
            <a:spAutoFit/>
          </a:bodyPr>
          <a:lstStyle/>
          <a:p>
            <a:pPr algn="ctr"/>
            <a:endParaRPr lang="en-US" dirty="0"/>
          </a:p>
          <a:p>
            <a:pPr algn="ctr"/>
            <a:r>
              <a:rPr lang="en-US" dirty="0">
                <a:latin typeface="Times New Roman" panose="02020603050405020304" pitchFamily="18" charset="0"/>
                <a:cs typeface="Times New Roman" panose="02020603050405020304" pitchFamily="18" charset="0"/>
              </a:rPr>
              <a:t>Presentation on</a:t>
            </a:r>
          </a:p>
          <a:p>
            <a:endParaRPr lang="en-US"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AI FOR LEGAL CASE OUTCOME PREDICTION</a:t>
            </a:r>
          </a:p>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By</a:t>
            </a:r>
          </a:p>
          <a:p>
            <a:pPr algn="ctr"/>
            <a:endParaRPr lang="en-US" dirty="0">
              <a:latin typeface="Times New Roman" panose="02020603050405020304" pitchFamily="18" charset="0"/>
              <a:cs typeface="Times New Roman" panose="02020603050405020304" pitchFamily="18" charset="0"/>
            </a:endParaRPr>
          </a:p>
          <a:p>
            <a:pPr algn="ctr"/>
            <a:r>
              <a:rPr lang="en-US" b="1" dirty="0" err="1">
                <a:latin typeface="Times New Roman" panose="02020603050405020304" pitchFamily="18" charset="0"/>
                <a:cs typeface="Times New Roman" panose="02020603050405020304" pitchFamily="18" charset="0"/>
              </a:rPr>
              <a:t>Amay</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Lohar</a:t>
            </a:r>
            <a:r>
              <a:rPr lang="en-US" b="1" dirty="0">
                <a:latin typeface="Times New Roman" panose="02020603050405020304" pitchFamily="18" charset="0"/>
                <a:cs typeface="Times New Roman" panose="02020603050405020304" pitchFamily="18" charset="0"/>
              </a:rPr>
              <a:t> (B14)</a:t>
            </a:r>
          </a:p>
          <a:p>
            <a:pPr algn="ctr"/>
            <a:r>
              <a:rPr lang="en-US" b="1" dirty="0">
                <a:latin typeface="Times New Roman" panose="02020603050405020304" pitchFamily="18" charset="0"/>
                <a:cs typeface="Times New Roman" panose="02020603050405020304" pitchFamily="18" charset="0"/>
              </a:rPr>
              <a:t>Nikhil Raghuwanshi (B36)</a:t>
            </a:r>
          </a:p>
          <a:p>
            <a:pPr algn="ctr"/>
            <a:r>
              <a:rPr lang="en-US" b="1" dirty="0" err="1">
                <a:latin typeface="Times New Roman" panose="02020603050405020304" pitchFamily="18" charset="0"/>
                <a:cs typeface="Times New Roman" panose="02020603050405020304" pitchFamily="18" charset="0"/>
              </a:rPr>
              <a:t>Shital</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Kalekar</a:t>
            </a:r>
            <a:r>
              <a:rPr lang="en-US" b="1" dirty="0">
                <a:latin typeface="Times New Roman" panose="02020603050405020304" pitchFamily="18" charset="0"/>
                <a:cs typeface="Times New Roman" panose="02020603050405020304" pitchFamily="18" charset="0"/>
              </a:rPr>
              <a:t> (B62)</a:t>
            </a:r>
          </a:p>
          <a:p>
            <a:pPr algn="ctr"/>
            <a:r>
              <a:rPr lang="en-US" b="1" dirty="0">
                <a:latin typeface="Times New Roman" panose="02020603050405020304" pitchFamily="18" charset="0"/>
                <a:cs typeface="Times New Roman" panose="02020603050405020304" pitchFamily="18" charset="0"/>
              </a:rPr>
              <a:t>Shraddha Dhanwate (B76)</a:t>
            </a:r>
          </a:p>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Under the guidance of </a:t>
            </a:r>
          </a:p>
          <a:p>
            <a:pPr algn="ctr"/>
            <a:r>
              <a:rPr lang="en-US" dirty="0">
                <a:latin typeface="Times New Roman" panose="02020603050405020304" pitchFamily="18" charset="0"/>
                <a:cs typeface="Times New Roman" panose="02020603050405020304" pitchFamily="18" charset="0"/>
              </a:rPr>
              <a:t>Prof. Priyanka </a:t>
            </a:r>
            <a:r>
              <a:rPr lang="en-US" dirty="0" err="1">
                <a:latin typeface="Times New Roman" panose="02020603050405020304" pitchFamily="18" charset="0"/>
                <a:cs typeface="Times New Roman" panose="02020603050405020304" pitchFamily="18" charset="0"/>
              </a:rPr>
              <a:t>Patil</a:t>
            </a: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Department of CSE-Artificial Intelligence</a:t>
            </a:r>
          </a:p>
          <a:p>
            <a:pPr algn="ct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318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Project Phase-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2</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438051" y="1600720"/>
            <a:ext cx="8164344" cy="584775"/>
          </a:xfrm>
          <a:prstGeom prst="rect">
            <a:avLst/>
          </a:prstGeom>
        </p:spPr>
        <p:txBody>
          <a:bodyPr wrap="square">
            <a:spAutoFit/>
          </a:bodyPr>
          <a:lstStyle/>
          <a:p>
            <a:pPr algn="ctr"/>
            <a:r>
              <a:rPr lang="en-US" sz="3200" b="1" dirty="0">
                <a:latin typeface="Times New Roman" panose="02020603050405020304" pitchFamily="18" charset="0"/>
                <a:cs typeface="Times New Roman" panose="02020603050405020304" pitchFamily="18" charset="0"/>
              </a:rPr>
              <a:t>Introduction</a:t>
            </a:r>
          </a:p>
        </p:txBody>
      </p:sp>
      <p:sp>
        <p:nvSpPr>
          <p:cNvPr id="8" name="TextBox 7">
            <a:extLst>
              <a:ext uri="{FF2B5EF4-FFF2-40B4-BE49-F238E27FC236}">
                <a16:creationId xmlns:a16="http://schemas.microsoft.com/office/drawing/2014/main" id="{A67A9DAE-0419-FD3F-D99F-5C084330AA93}"/>
              </a:ext>
            </a:extLst>
          </p:cNvPr>
          <p:cNvSpPr txBox="1"/>
          <p:nvPr/>
        </p:nvSpPr>
        <p:spPr>
          <a:xfrm>
            <a:off x="504574" y="2564904"/>
            <a:ext cx="8134851" cy="2862322"/>
          </a:xfrm>
          <a:prstGeom prst="rect">
            <a:avLst/>
          </a:prstGeom>
          <a:noFill/>
        </p:spPr>
        <p:txBody>
          <a:bodyPr wrap="square">
            <a:spAutoFit/>
          </a:bodyPr>
          <a:lstStyle/>
          <a:p>
            <a:pPr marL="285750" indent="-285750" algn="just">
              <a:buFont typeface="Arial" panose="020B0604020202020204" pitchFamily="34" charset="0"/>
              <a:buChar char="•"/>
            </a:pPr>
            <a:r>
              <a:rPr lang="en-US" sz="2000" dirty="0"/>
              <a:t>The Indian judicial system processes millions of cases annually, documented in lengthy, unstructured PDFs.</a:t>
            </a:r>
          </a:p>
          <a:p>
            <a:pPr marL="285750" indent="-285750" algn="just">
              <a:buFont typeface="Arial" panose="020B0604020202020204" pitchFamily="34" charset="0"/>
              <a:buChar char="•"/>
            </a:pPr>
            <a:r>
              <a:rPr lang="en-US" sz="2000" dirty="0"/>
              <a:t>Manual legal research and outcome prediction are highly time-consuming and cognitively demanding.</a:t>
            </a:r>
          </a:p>
          <a:p>
            <a:pPr marL="285750" indent="-285750" algn="just">
              <a:buFont typeface="Arial" panose="020B0604020202020204" pitchFamily="34" charset="0"/>
              <a:buChar char="•"/>
            </a:pPr>
            <a:r>
              <a:rPr lang="en-US" sz="2000" dirty="0"/>
              <a:t>Our Solution: A production-grade, end-to-end Legal AI Engine designed to read complex court judgments, automatically translate outdated laws, and predict appellate outcomes.</a:t>
            </a:r>
          </a:p>
          <a:p>
            <a:pPr marL="285750" indent="-285750" algn="just">
              <a:buFont typeface="Arial" panose="020B0604020202020204" pitchFamily="34" charset="0"/>
              <a:buChar char="•"/>
            </a:pPr>
            <a:r>
              <a:rPr lang="en-US" sz="2000" dirty="0"/>
              <a:t>Core Technology: Advanced domain-specific Transformers (InLegalBERT), augmented by Dynamic Statutory Translation and Explainable AI (SHAP).</a:t>
            </a:r>
          </a:p>
        </p:txBody>
      </p:sp>
    </p:spTree>
    <p:extLst>
      <p:ext uri="{BB962C8B-B14F-4D97-AF65-F5344CB8AC3E}">
        <p14:creationId xmlns:p14="http://schemas.microsoft.com/office/powerpoint/2010/main" val="1704150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3</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6512" y="1625605"/>
            <a:ext cx="9107488" cy="584775"/>
          </a:xfrm>
          <a:prstGeom prst="rect">
            <a:avLst/>
          </a:prstGeom>
        </p:spPr>
        <p:txBody>
          <a:bodyPr wrap="square">
            <a:spAutoFit/>
          </a:bodyPr>
          <a:lstStyle/>
          <a:p>
            <a:pPr algn="ctr"/>
            <a:r>
              <a:rPr lang="en-US" sz="3200" b="1" dirty="0">
                <a:latin typeface="Times New Roman" panose="02020603050405020304" pitchFamily="18" charset="0"/>
                <a:cs typeface="Times New Roman" panose="02020603050405020304" pitchFamily="18" charset="0"/>
              </a:rPr>
              <a:t>Problem Statement</a:t>
            </a:r>
          </a:p>
        </p:txBody>
      </p:sp>
      <p:sp>
        <p:nvSpPr>
          <p:cNvPr id="6" name="TextBox 5">
            <a:extLst>
              <a:ext uri="{FF2B5EF4-FFF2-40B4-BE49-F238E27FC236}">
                <a16:creationId xmlns:a16="http://schemas.microsoft.com/office/drawing/2014/main" id="{9766C21A-F74A-B2BD-CE4F-5436BB581D51}"/>
              </a:ext>
            </a:extLst>
          </p:cNvPr>
          <p:cNvSpPr txBox="1"/>
          <p:nvPr/>
        </p:nvSpPr>
        <p:spPr>
          <a:xfrm>
            <a:off x="539076" y="2444695"/>
            <a:ext cx="8102359" cy="3139321"/>
          </a:xfrm>
          <a:prstGeom prst="rect">
            <a:avLst/>
          </a:prstGeom>
          <a:noFill/>
        </p:spPr>
        <p:txBody>
          <a:bodyPr wrap="square" numCol="1">
            <a:spAutoFit/>
          </a:bodyPr>
          <a:lstStyle/>
          <a:p>
            <a:pPr algn="just"/>
            <a:r>
              <a:rPr lang="en-US" dirty="0"/>
              <a:t>The legal system suffers from a massive backlog, with judgments spanning hundreds of unstructured pages. Applying standard AI introduces three major roadblocks:</a:t>
            </a:r>
          </a:p>
          <a:p>
            <a:pPr algn="just"/>
            <a:endParaRPr lang="en-US" dirty="0"/>
          </a:p>
          <a:p>
            <a:pPr algn="just"/>
            <a:r>
              <a:rPr lang="en-US" b="1" dirty="0"/>
              <a:t>1. Token Limits &amp; Data Leakage:</a:t>
            </a:r>
            <a:r>
              <a:rPr lang="en-US" dirty="0"/>
              <a:t> Standard models crash on documents over 512 tokens, or they accidentally read the judge's final verdict while trying to predict it (data leakage).</a:t>
            </a:r>
          </a:p>
          <a:p>
            <a:pPr algn="just"/>
            <a:r>
              <a:rPr lang="en-US" b="1" dirty="0"/>
              <a:t>2. Statutory Transitions: </a:t>
            </a:r>
            <a:r>
              <a:rPr lang="en-US" dirty="0"/>
              <a:t>India's shift from the Indian Penal Code (IPC) to the Bharatiya Nyaya Sanhita (BNS) makes legacy AI models instantly obsolete, as they don't understand the new laws.</a:t>
            </a:r>
          </a:p>
          <a:p>
            <a:pPr algn="just"/>
            <a:r>
              <a:rPr lang="en-US" b="1" dirty="0"/>
              <a:t>3. The "Black Box" Trust Issue: </a:t>
            </a:r>
            <a:r>
              <a:rPr lang="en-US" dirty="0"/>
              <a:t>Legal professionals cannot trust an AI that predicts "Dismissed" without providing clear, verifiable legal reasoning.</a:t>
            </a:r>
          </a:p>
        </p:txBody>
      </p:sp>
    </p:spTree>
    <p:extLst>
      <p:ext uri="{BB962C8B-B14F-4D97-AF65-F5344CB8AC3E}">
        <p14:creationId xmlns:p14="http://schemas.microsoft.com/office/powerpoint/2010/main" val="1765194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69332"/>
          </a:xfrm>
          <a:prstGeom prst="rect">
            <a:avLst/>
          </a:prstGeom>
          <a:solidFill>
            <a:srgbClr val="FFC000"/>
          </a:solidFill>
          <a:ln w="9525">
            <a:noFill/>
            <a:miter lim="800000"/>
          </a:ln>
        </p:spPr>
        <p:txBody>
          <a:bodyPr wrap="square">
            <a:spAutoFit/>
          </a:bodyPr>
          <a:lstStyle/>
          <a:p>
            <a:pPr algn="ctr"/>
            <a:r>
              <a:rPr lang="en-US" b="1" dirty="0"/>
              <a:t>Review -</a:t>
            </a:r>
            <a:r>
              <a:rPr lang="en-US" b="1" dirty="0">
                <a:latin typeface="Times New Roman" panose="02020603050405020304" pitchFamily="18" charset="0"/>
                <a:cs typeface="Times New Roman" panose="02020603050405020304" pitchFamily="18" charset="0"/>
              </a:rPr>
              <a:t> IV</a:t>
            </a:r>
            <a:endParaRPr lang="en-IN" sz="1600" dirty="0">
              <a:effectLst/>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4</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6512" y="1614861"/>
            <a:ext cx="9107488" cy="584775"/>
          </a:xfrm>
          <a:prstGeom prst="rect">
            <a:avLst/>
          </a:prstGeom>
        </p:spPr>
        <p:txBody>
          <a:bodyPr wrap="square">
            <a:spAutoFit/>
          </a:bodyPr>
          <a:lstStyle/>
          <a:p>
            <a:pPr algn="ctr"/>
            <a:r>
              <a:rPr lang="en-US" sz="3200" b="1" dirty="0">
                <a:latin typeface="Times New Roman" panose="02020603050405020304" pitchFamily="18" charset="0"/>
                <a:cs typeface="Times New Roman" panose="02020603050405020304" pitchFamily="18" charset="0"/>
              </a:rPr>
              <a:t>Problem Solution</a:t>
            </a:r>
          </a:p>
        </p:txBody>
      </p:sp>
      <p:sp>
        <p:nvSpPr>
          <p:cNvPr id="4" name="Rectangle 3"/>
          <p:cNvSpPr/>
          <p:nvPr/>
        </p:nvSpPr>
        <p:spPr>
          <a:xfrm>
            <a:off x="467544" y="2399402"/>
            <a:ext cx="8280920" cy="3477875"/>
          </a:xfrm>
          <a:prstGeom prst="rect">
            <a:avLst/>
          </a:prstGeom>
        </p:spPr>
        <p:txBody>
          <a:bodyPr wrap="square">
            <a:spAutoFit/>
          </a:bodyPr>
          <a:lstStyle/>
          <a:p>
            <a:pPr marL="285750" indent="-285750" algn="just">
              <a:buFont typeface="Arial" panose="020B0604020202020204" pitchFamily="34" charset="0"/>
              <a:buChar char="•"/>
            </a:pPr>
            <a:r>
              <a:rPr lang="en-IN" sz="2000" b="1" dirty="0"/>
              <a:t>Structure-Aware Chunking:</a:t>
            </a:r>
            <a:r>
              <a:rPr lang="en-IN" sz="2000" dirty="0"/>
              <a:t> Engineered a custom Regex pipeline to specifically isolate 'Facts' and 'Arguments', bypassing token limits and preventing data leakage.</a:t>
            </a:r>
          </a:p>
          <a:p>
            <a:pPr marL="285750" indent="-285750" algn="just">
              <a:buFont typeface="Arial" panose="020B0604020202020204" pitchFamily="34" charset="0"/>
              <a:buChar char="•"/>
            </a:pPr>
            <a:r>
              <a:rPr lang="en-IN" sz="2000" b="1" dirty="0"/>
              <a:t>Dynamic JSON Middleware:</a:t>
            </a:r>
            <a:r>
              <a:rPr lang="en-IN" sz="2000" dirty="0"/>
              <a:t> Built an automated translation layer that seamlessly maps historical IPC sections to modern BNS equivalents before AI inference.</a:t>
            </a:r>
          </a:p>
          <a:p>
            <a:pPr marL="285750" indent="-285750" algn="just">
              <a:buFont typeface="Arial" panose="020B0604020202020204" pitchFamily="34" charset="0"/>
              <a:buChar char="•"/>
            </a:pPr>
            <a:r>
              <a:rPr lang="en-IN" sz="2000" b="1" dirty="0"/>
              <a:t>Dual-Inference Pipeline:</a:t>
            </a:r>
            <a:r>
              <a:rPr lang="en-IN" sz="2000" dirty="0"/>
              <a:t> Utilizes InLegalBERT to instantly predict both Jurisdiction and Appellate Outcome with 85.2% accuracy.</a:t>
            </a:r>
          </a:p>
          <a:p>
            <a:pPr marL="285750" indent="-285750" algn="just">
              <a:buFont typeface="Arial" panose="020B0604020202020204" pitchFamily="34" charset="0"/>
              <a:buChar char="•"/>
            </a:pPr>
            <a:r>
              <a:rPr lang="en-IN" sz="2000" b="1" dirty="0"/>
              <a:t>NER-Filtered Explainability: </a:t>
            </a:r>
            <a:r>
              <a:rPr lang="en-IN" sz="2000" dirty="0"/>
              <a:t>Integrated SHAP with </a:t>
            </a:r>
            <a:r>
              <a:rPr lang="en-IN" sz="2000" dirty="0" err="1"/>
              <a:t>spaCy</a:t>
            </a:r>
            <a:r>
              <a:rPr lang="en-IN" sz="2000" dirty="0"/>
              <a:t> (NER) to highlight only critical legal statutes and entities, ensuring zero-noise transparency for lawyers.</a:t>
            </a:r>
          </a:p>
        </p:txBody>
      </p:sp>
    </p:spTree>
    <p:extLst>
      <p:ext uri="{BB962C8B-B14F-4D97-AF65-F5344CB8AC3E}">
        <p14:creationId xmlns:p14="http://schemas.microsoft.com/office/powerpoint/2010/main" val="1803402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title"/>
          </p:nvPr>
        </p:nvSpPr>
        <p:spPr>
          <a:xfrm>
            <a:off x="457200" y="116632"/>
            <a:ext cx="8229600" cy="1143000"/>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5</a:t>
            </a:fld>
            <a:endParaRPr lang="en-GB" b="1" dirty="0">
              <a:solidFill>
                <a:schemeClr val="tx1"/>
              </a:solidFill>
            </a:endParaRPr>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4"/>
          <p:cNvSpPr>
            <a:spLocks noGrp="1" noChangeArrowheads="1"/>
          </p:cNvSpPr>
          <p:nvPr>
            <p:ph idx="1"/>
          </p:nvPr>
        </p:nvSpPr>
        <p:spPr bwMode="auto">
          <a:xfrm>
            <a:off x="404608" y="2425187"/>
            <a:ext cx="840780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000" b="1" dirty="0"/>
              <a:t>Objective 1</a:t>
            </a:r>
            <a:r>
              <a:rPr lang="en-US" sz="2000" dirty="0"/>
              <a:t>: Curate a real-world corpus of Indian judicial data from the Supreme Court and High Courts.</a:t>
            </a:r>
          </a:p>
          <a:p>
            <a:pPr algn="just"/>
            <a:r>
              <a:rPr lang="en-US" sz="2000" b="1" dirty="0"/>
              <a:t>Objective 2</a:t>
            </a:r>
            <a:r>
              <a:rPr lang="en-US" sz="2000" dirty="0"/>
              <a:t>: Engineer a robust NLP pipeline using PyMuPDF and Structure-Aware Chunking to extract core case facts.</a:t>
            </a:r>
          </a:p>
          <a:p>
            <a:pPr algn="just"/>
            <a:r>
              <a:rPr lang="en-US" sz="2000" b="1" dirty="0"/>
              <a:t>Objective 3</a:t>
            </a:r>
            <a:r>
              <a:rPr lang="en-US" sz="2000" dirty="0"/>
              <a:t>: Implement a dynamic translation layer to bridge the gap between historical IPC laws and the new BNS framework.</a:t>
            </a:r>
          </a:p>
          <a:p>
            <a:pPr algn="just"/>
            <a:r>
              <a:rPr lang="en-US" sz="2000" b="1" dirty="0"/>
              <a:t>Objective 4</a:t>
            </a:r>
            <a:r>
              <a:rPr lang="en-US" sz="2000" dirty="0"/>
              <a:t>: Train and deploy a high-accuracy InLegalBERT transformer model for binary outcome prediction.</a:t>
            </a:r>
          </a:p>
          <a:p>
            <a:pPr algn="just"/>
            <a:r>
              <a:rPr lang="en-US" sz="2000" b="1" dirty="0"/>
              <a:t>Objective 5</a:t>
            </a:r>
            <a:r>
              <a:rPr lang="en-US" sz="2000" dirty="0"/>
              <a:t>: Develop a fully secure, cloud-based SaaS dashboard (</a:t>
            </a:r>
            <a:r>
              <a:rPr lang="en-US" sz="2000" dirty="0" err="1"/>
              <a:t>Supabase</a:t>
            </a:r>
            <a:r>
              <a:rPr lang="en-US" sz="2000" dirty="0"/>
              <a:t> + Streamlit) with transparent AI reasoning.</a:t>
            </a:r>
          </a:p>
        </p:txBody>
      </p:sp>
      <p:sp>
        <p:nvSpPr>
          <p:cNvPr id="9" name="Rectangle 5"/>
          <p:cNvSpPr>
            <a:spLocks noChangeArrowheads="1"/>
          </p:cNvSpPr>
          <p:nvPr/>
        </p:nvSpPr>
        <p:spPr bwMode="auto">
          <a:xfrm rot="10800000" flipV="1">
            <a:off x="40304" y="1615851"/>
            <a:ext cx="90633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Objectives</a:t>
            </a:r>
          </a:p>
        </p:txBody>
      </p:sp>
    </p:spTree>
    <p:extLst>
      <p:ext uri="{BB962C8B-B14F-4D97-AF65-F5344CB8AC3E}">
        <p14:creationId xmlns:p14="http://schemas.microsoft.com/office/powerpoint/2010/main" val="1218871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6</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p:cNvSpPr>
            <a:spLocks noChangeArrowheads="1"/>
          </p:cNvSpPr>
          <p:nvPr/>
        </p:nvSpPr>
        <p:spPr bwMode="auto">
          <a:xfrm rot="10800000" flipV="1">
            <a:off x="257111" y="2316774"/>
            <a:ext cx="862977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r>
              <a:rPr lang="en-US" sz="2000" b="1" dirty="0"/>
              <a:t>Data Extraction</a:t>
            </a:r>
            <a:r>
              <a:rPr lang="en-US" sz="2000" dirty="0"/>
              <a:t>: Extracted raw text from legal PDFs using PyMuPDF.</a:t>
            </a:r>
          </a:p>
          <a:p>
            <a:pPr marL="285750" indent="-285750" algn="just">
              <a:buFont typeface="Arial" panose="020B0604020202020204" pitchFamily="34" charset="0"/>
              <a:buChar char="•"/>
            </a:pPr>
            <a:r>
              <a:rPr lang="en-US" sz="2000" b="1" dirty="0"/>
              <a:t>Dynamic Translation</a:t>
            </a:r>
            <a:r>
              <a:rPr lang="en-US" sz="2000" dirty="0"/>
              <a:t>: Passed text through a JSON/Regex middleware to translate IPC references to BNS.</a:t>
            </a:r>
          </a:p>
          <a:p>
            <a:pPr marL="285750" indent="-285750" algn="just">
              <a:buFont typeface="Arial" panose="020B0604020202020204" pitchFamily="34" charset="0"/>
              <a:buChar char="•"/>
            </a:pPr>
            <a:r>
              <a:rPr lang="en-US" sz="2000" b="1" dirty="0"/>
              <a:t>Structure-Aware Chunking</a:t>
            </a:r>
            <a:r>
              <a:rPr lang="en-US" sz="2000" dirty="0"/>
              <a:t>: Isolated strictly 'Facts' and 'Arguments' to feed the AI pure, unbiased context.</a:t>
            </a:r>
          </a:p>
          <a:p>
            <a:pPr marL="285750" indent="-285750" algn="just">
              <a:buFont typeface="Arial" panose="020B0604020202020204" pitchFamily="34" charset="0"/>
              <a:buChar char="•"/>
            </a:pPr>
            <a:r>
              <a:rPr lang="en-US" sz="2000" b="1" dirty="0"/>
              <a:t>InLegalBERT Execution</a:t>
            </a:r>
            <a:r>
              <a:rPr lang="en-US" sz="2000" dirty="0"/>
              <a:t>: Processed cleaned chunks through fine-tuned InLegalBERT for Jurisdiction and Outcome prediction.</a:t>
            </a:r>
          </a:p>
          <a:p>
            <a:pPr marL="285750" indent="-285750" algn="just">
              <a:buFont typeface="Arial" panose="020B0604020202020204" pitchFamily="34" charset="0"/>
              <a:buChar char="•"/>
            </a:pPr>
            <a:r>
              <a:rPr lang="en-US" sz="2000" b="1" dirty="0"/>
              <a:t>Explainable AI (XAI)</a:t>
            </a:r>
            <a:r>
              <a:rPr lang="en-US" sz="2000" dirty="0"/>
              <a:t>: Filtered SHAP outputs through </a:t>
            </a:r>
            <a:r>
              <a:rPr lang="en-US" sz="2000" dirty="0" err="1"/>
              <a:t>spaCy</a:t>
            </a:r>
            <a:r>
              <a:rPr lang="en-US" sz="2000" dirty="0"/>
              <a:t> NER to generate visual heatmaps of the exact decision-driving words.</a:t>
            </a:r>
          </a:p>
          <a:p>
            <a:pPr marL="285750" indent="-285750" algn="just">
              <a:buFont typeface="Arial" panose="020B0604020202020204" pitchFamily="34" charset="0"/>
              <a:buChar char="•"/>
            </a:pPr>
            <a:r>
              <a:rPr lang="en-US" sz="2000" b="1" dirty="0"/>
              <a:t>Secure SaaS Deployment</a:t>
            </a:r>
            <a:r>
              <a:rPr lang="en-US" sz="2000" dirty="0"/>
              <a:t>: Wrapped the entire pipeline in a Streamlit frontend with a </a:t>
            </a:r>
            <a:r>
              <a:rPr lang="en-US" sz="2000" dirty="0" err="1"/>
              <a:t>Supabase</a:t>
            </a:r>
            <a:r>
              <a:rPr lang="en-US" sz="2000" dirty="0"/>
              <a:t> PostgreSQL backend for encrypted lawyer authentication and case history tracking.</a:t>
            </a:r>
          </a:p>
        </p:txBody>
      </p:sp>
      <p:sp>
        <p:nvSpPr>
          <p:cNvPr id="5" name="Rectangle 4"/>
          <p:cNvSpPr/>
          <p:nvPr/>
        </p:nvSpPr>
        <p:spPr>
          <a:xfrm>
            <a:off x="190694" y="1526858"/>
            <a:ext cx="8843028"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Methodology/ Workflow</a:t>
            </a:r>
          </a:p>
        </p:txBody>
      </p:sp>
    </p:spTree>
    <p:extLst>
      <p:ext uri="{BB962C8B-B14F-4D97-AF65-F5344CB8AC3E}">
        <p14:creationId xmlns:p14="http://schemas.microsoft.com/office/powerpoint/2010/main" val="2045366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7</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9285" y="1582511"/>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System Architecture</a:t>
            </a:r>
          </a:p>
        </p:txBody>
      </p:sp>
      <p:pic>
        <p:nvPicPr>
          <p:cNvPr id="5" name="Picture 4">
            <a:extLst>
              <a:ext uri="{FF2B5EF4-FFF2-40B4-BE49-F238E27FC236}">
                <a16:creationId xmlns:a16="http://schemas.microsoft.com/office/drawing/2014/main" id="{D79ACFDA-1173-5C91-CFE7-B05E4E8DA60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19839" y="2028033"/>
            <a:ext cx="3432314" cy="4690714"/>
          </a:xfrm>
          <a:prstGeom prst="rect">
            <a:avLst/>
          </a:prstGeom>
        </p:spPr>
      </p:pic>
    </p:spTree>
    <p:extLst>
      <p:ext uri="{BB962C8B-B14F-4D97-AF65-F5344CB8AC3E}">
        <p14:creationId xmlns:p14="http://schemas.microsoft.com/office/powerpoint/2010/main" val="2431662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8</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6004" y="1391290"/>
            <a:ext cx="9144000"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Literature Survey</a:t>
            </a:r>
          </a:p>
        </p:txBody>
      </p:sp>
      <p:sp>
        <p:nvSpPr>
          <p:cNvPr id="6" name="Rectangle 1"/>
          <p:cNvSpPr>
            <a:spLocks noChangeArrowheads="1"/>
          </p:cNvSpPr>
          <p:nvPr/>
        </p:nvSpPr>
        <p:spPr bwMode="auto">
          <a:xfrm>
            <a:off x="251949" y="2251720"/>
            <a:ext cx="2083696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aphicFrame>
        <p:nvGraphicFramePr>
          <p:cNvPr id="7" name="Table 6"/>
          <p:cNvGraphicFramePr>
            <a:graphicFrameLocks noGrp="1"/>
          </p:cNvGraphicFramePr>
          <p:nvPr>
            <p:extLst>
              <p:ext uri="{D42A27DB-BD31-4B8C-83A1-F6EECF244321}">
                <p14:modId xmlns:p14="http://schemas.microsoft.com/office/powerpoint/2010/main" val="427894708"/>
              </p:ext>
            </p:extLst>
          </p:nvPr>
        </p:nvGraphicFramePr>
        <p:xfrm>
          <a:off x="236443" y="2048117"/>
          <a:ext cx="8728044" cy="4753345"/>
        </p:xfrm>
        <a:graphic>
          <a:graphicData uri="http://schemas.openxmlformats.org/drawingml/2006/table">
            <a:tbl>
              <a:tblPr firstRow="1" firstCol="1" bandRow="1">
                <a:tableStyleId>{5C22544A-7EE6-4342-B048-85BDC9FD1C3A}</a:tableStyleId>
              </a:tblPr>
              <a:tblGrid>
                <a:gridCol w="654946">
                  <a:extLst>
                    <a:ext uri="{9D8B030D-6E8A-4147-A177-3AD203B41FA5}">
                      <a16:colId xmlns:a16="http://schemas.microsoft.com/office/drawing/2014/main" val="1164334105"/>
                    </a:ext>
                  </a:extLst>
                </a:gridCol>
                <a:gridCol w="1725352">
                  <a:extLst>
                    <a:ext uri="{9D8B030D-6E8A-4147-A177-3AD203B41FA5}">
                      <a16:colId xmlns:a16="http://schemas.microsoft.com/office/drawing/2014/main" val="811683520"/>
                    </a:ext>
                  </a:extLst>
                </a:gridCol>
                <a:gridCol w="701299">
                  <a:extLst>
                    <a:ext uri="{9D8B030D-6E8A-4147-A177-3AD203B41FA5}">
                      <a16:colId xmlns:a16="http://schemas.microsoft.com/office/drawing/2014/main" val="3569505782"/>
                    </a:ext>
                  </a:extLst>
                </a:gridCol>
                <a:gridCol w="1795738">
                  <a:extLst>
                    <a:ext uri="{9D8B030D-6E8A-4147-A177-3AD203B41FA5}">
                      <a16:colId xmlns:a16="http://schemas.microsoft.com/office/drawing/2014/main" val="1882051763"/>
                    </a:ext>
                  </a:extLst>
                </a:gridCol>
                <a:gridCol w="1561400">
                  <a:extLst>
                    <a:ext uri="{9D8B030D-6E8A-4147-A177-3AD203B41FA5}">
                      <a16:colId xmlns:a16="http://schemas.microsoft.com/office/drawing/2014/main" val="3234997819"/>
                    </a:ext>
                  </a:extLst>
                </a:gridCol>
                <a:gridCol w="2289309">
                  <a:extLst>
                    <a:ext uri="{9D8B030D-6E8A-4147-A177-3AD203B41FA5}">
                      <a16:colId xmlns:a16="http://schemas.microsoft.com/office/drawing/2014/main" val="1253278123"/>
                    </a:ext>
                  </a:extLst>
                </a:gridCol>
              </a:tblGrid>
              <a:tr h="429050">
                <a:tc>
                  <a:txBody>
                    <a:bodyPr/>
                    <a:lstStyle/>
                    <a:p>
                      <a:pPr marL="24130">
                        <a:lnSpc>
                          <a:spcPct val="107000"/>
                        </a:lnSpc>
                        <a:spcAft>
                          <a:spcPts val="0"/>
                        </a:spcAft>
                      </a:pPr>
                      <a:r>
                        <a:rPr lang="en-US" sz="1100" dirty="0" err="1">
                          <a:effectLst/>
                          <a:latin typeface="Times New Roman" panose="02020603050405020304" pitchFamily="18" charset="0"/>
                          <a:cs typeface="Times New Roman" panose="02020603050405020304" pitchFamily="18" charset="0"/>
                        </a:rPr>
                        <a:t>Sr.No</a:t>
                      </a:r>
                      <a:r>
                        <a:rPr lang="en-US" sz="1100" dirty="0">
                          <a:effectLst/>
                          <a:latin typeface="Times New Roman" panose="02020603050405020304" pitchFamily="18" charset="0"/>
                          <a:cs typeface="Times New Roman" panose="02020603050405020304" pitchFamily="18" charset="0"/>
                        </a:rPr>
                        <a:t>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Title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Year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Study Type/ Approach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795"/>
                        </a:spcAft>
                      </a:pPr>
                      <a:r>
                        <a:rPr lang="en-US" sz="1100">
                          <a:effectLst/>
                          <a:latin typeface="Times New Roman" panose="02020603050405020304" pitchFamily="18" charset="0"/>
                          <a:cs typeface="Times New Roman" panose="02020603050405020304" pitchFamily="18" charset="0"/>
                        </a:rPr>
                        <a:t>  Objective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Limitations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3353278665"/>
                  </a:ext>
                </a:extLst>
              </a:tr>
              <a:tr h="973747">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1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The Case for AI-</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Powered Legal Aid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2023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Analytical and qualitative study examining the role of AI in enhancing access to justice.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99000"/>
                        </a:lnSpc>
                        <a:spcAft>
                          <a:spcPts val="0"/>
                        </a:spcAft>
                      </a:pPr>
                      <a:r>
                        <a:rPr lang="en-US" sz="1100">
                          <a:effectLst/>
                          <a:latin typeface="Times New Roman" panose="02020603050405020304" pitchFamily="18" charset="0"/>
                          <a:cs typeface="Times New Roman" panose="02020603050405020304" pitchFamily="18" charset="0"/>
                        </a:rPr>
                        <a:t>To analyze how AI-powered legal aid tools like </a:t>
                      </a:r>
                      <a:endParaRPr lang="en-IN" sz="1100">
                        <a:effectLst/>
                        <a:latin typeface="Times New Roman" panose="02020603050405020304" pitchFamily="18" charset="0"/>
                        <a:cs typeface="Times New Roman" panose="02020603050405020304" pitchFamily="18" charset="0"/>
                      </a:endParaRPr>
                    </a:p>
                    <a:p>
                      <a:pPr marR="16510">
                        <a:lnSpc>
                          <a:spcPct val="107000"/>
                        </a:lnSpc>
                        <a:spcAft>
                          <a:spcPts val="0"/>
                        </a:spcAft>
                      </a:pPr>
                      <a:r>
                        <a:rPr lang="en-US" sz="1100">
                          <a:effectLst/>
                          <a:latin typeface="Times New Roman" panose="02020603050405020304" pitchFamily="18" charset="0"/>
                          <a:cs typeface="Times New Roman" panose="02020603050405020304" pitchFamily="18" charset="0"/>
                        </a:rPr>
                        <a:t>MyOpenCourt can improve access to justice  legal processes.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Limited empirical validation, privacy and security risks, digital divide issues, and concerns over unauthorized practice of law.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2703827912"/>
                  </a:ext>
                </a:extLst>
              </a:tr>
              <a:tr h="941774">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AI-powered decisionmaking in facilitating insurance claim dispute resolution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2023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Analytical and conceptual study using comparative analysis to evaluate AI’s role in transforming the legal sector.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marR="29845">
                        <a:lnSpc>
                          <a:spcPct val="99000"/>
                        </a:lnSpc>
                        <a:spcAft>
                          <a:spcPts val="5"/>
                        </a:spcAft>
                      </a:pPr>
                      <a:r>
                        <a:rPr lang="en-US" sz="1100">
                          <a:effectLst/>
                          <a:latin typeface="Times New Roman" panose="02020603050405020304" pitchFamily="18" charset="0"/>
                          <a:cs typeface="Times New Roman" panose="02020603050405020304" pitchFamily="18" charset="0"/>
                        </a:rPr>
                        <a:t>To explore how AI applications can enhance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judicial efficiency, accuracy in the legal system.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Challenges include ethical issues, lack of legal framework, data privacy concerns, and limited technological infrastructure.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2885353093"/>
                  </a:ext>
                </a:extLst>
              </a:tr>
              <a:tr h="1035596">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3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99000"/>
                        </a:lnSpc>
                        <a:spcAft>
                          <a:spcPts val="0"/>
                        </a:spcAft>
                      </a:pPr>
                      <a:r>
                        <a:rPr lang="en-US" sz="1100">
                          <a:effectLst/>
                          <a:latin typeface="Times New Roman" panose="02020603050405020304" pitchFamily="18" charset="0"/>
                          <a:cs typeface="Times New Roman" panose="02020603050405020304" pitchFamily="18" charset="0"/>
                        </a:rPr>
                        <a:t>Predictive Modelling in Legal DecisionMaking: Leveraging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Machine Learning for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Forecasting Legal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Outcomes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2024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Descriptive and analytical study examining the integration of AI in the legal sector.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To highlight how AI enhances efficiency, transparency, and decision-making in law.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Ethical concerns, data </a:t>
                      </a:r>
                      <a:endParaRPr lang="en-IN" sz="1100">
                        <a:effectLst/>
                        <a:latin typeface="Times New Roman" panose="02020603050405020304" pitchFamily="18" charset="0"/>
                        <a:cs typeface="Times New Roman" panose="02020603050405020304" pitchFamily="18" charset="0"/>
                      </a:endParaRPr>
                    </a:p>
                    <a:p>
                      <a:pPr marR="7620">
                        <a:lnSpc>
                          <a:spcPct val="107000"/>
                        </a:lnSpc>
                        <a:spcAft>
                          <a:spcPts val="0"/>
                        </a:spcAft>
                      </a:pPr>
                      <a:r>
                        <a:rPr lang="en-US" sz="1100">
                          <a:effectLst/>
                          <a:latin typeface="Times New Roman" panose="02020603050405020304" pitchFamily="18" charset="0"/>
                          <a:cs typeface="Times New Roman" panose="02020603050405020304" pitchFamily="18" charset="0"/>
                        </a:rPr>
                        <a:t>bias, lack of regulation, and dependency on technology.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2958893210"/>
                  </a:ext>
                </a:extLst>
              </a:tr>
              <a:tr h="1293192">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4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99000"/>
                        </a:lnSpc>
                        <a:spcAft>
                          <a:spcPts val="10"/>
                        </a:spcAft>
                      </a:pPr>
                      <a:r>
                        <a:rPr lang="en-US" sz="1100" dirty="0">
                          <a:effectLst/>
                          <a:latin typeface="Times New Roman" panose="02020603050405020304" pitchFamily="18" charset="0"/>
                          <a:cs typeface="Times New Roman" panose="02020603050405020304" pitchFamily="18" charset="0"/>
                        </a:rPr>
                        <a:t>Predictive Justice in Indian Courts: </a:t>
                      </a:r>
                      <a:endParaRPr lang="en-IN" sz="1100" dirty="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Machine Learning </a:t>
                      </a:r>
                      <a:endParaRPr lang="en-IN" sz="1100" dirty="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Approaches to Case </a:t>
                      </a:r>
                      <a:endParaRPr lang="en-IN" sz="1100" dirty="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Outcome Forecasting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2024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Sophisticated, multi-layered machine learning,Deep Neural Networks, SVM,NLP predictive legal analytics framework tailored to the Indian judicial system.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99000"/>
                        </a:lnSpc>
                        <a:spcAft>
                          <a:spcPts val="5"/>
                        </a:spcAft>
                      </a:pPr>
                      <a:r>
                        <a:rPr lang="en-US" sz="1100" dirty="0">
                          <a:effectLst/>
                          <a:latin typeface="Times New Roman" panose="02020603050405020304" pitchFamily="18" charset="0"/>
                          <a:cs typeface="Times New Roman" panose="02020603050405020304" pitchFamily="18" charset="0"/>
                        </a:rPr>
                        <a:t>Develop a model for predicting judicial </a:t>
                      </a:r>
                      <a:r>
                        <a:rPr lang="en-US" sz="1100" dirty="0" err="1">
                          <a:effectLst/>
                          <a:latin typeface="Times New Roman" panose="02020603050405020304" pitchFamily="18" charset="0"/>
                          <a:cs typeface="Times New Roman" panose="02020603050405020304" pitchFamily="18" charset="0"/>
                        </a:rPr>
                        <a:t>outcomes,analyze</a:t>
                      </a:r>
                      <a:r>
                        <a:rPr lang="en-US" sz="1100" dirty="0">
                          <a:effectLst/>
                          <a:latin typeface="Times New Roman" panose="02020603050405020304" pitchFamily="18" charset="0"/>
                          <a:cs typeface="Times New Roman" panose="02020603050405020304" pitchFamily="18" charset="0"/>
                        </a:rPr>
                        <a:t> </a:t>
                      </a:r>
                      <a:endParaRPr lang="en-IN" sz="1100" dirty="0">
                        <a:effectLst/>
                        <a:latin typeface="Times New Roman" panose="02020603050405020304" pitchFamily="18" charset="0"/>
                        <a:cs typeface="Times New Roman" panose="02020603050405020304" pitchFamily="18" charset="0"/>
                      </a:endParaRPr>
                    </a:p>
                    <a:p>
                      <a:pPr marR="6350">
                        <a:lnSpc>
                          <a:spcPct val="107000"/>
                        </a:lnSpc>
                        <a:spcAft>
                          <a:spcPts val="0"/>
                        </a:spcAft>
                      </a:pPr>
                      <a:r>
                        <a:rPr lang="en-US" sz="1100" dirty="0">
                          <a:effectLst/>
                          <a:latin typeface="Times New Roman" panose="02020603050405020304" pitchFamily="18" charset="0"/>
                          <a:cs typeface="Times New Roman" panose="02020603050405020304" pitchFamily="18" charset="0"/>
                        </a:rPr>
                        <a:t>factors influencing judicial </a:t>
                      </a:r>
                      <a:r>
                        <a:rPr lang="en-US" sz="1100" dirty="0" err="1">
                          <a:effectLst/>
                          <a:latin typeface="Times New Roman" panose="02020603050405020304" pitchFamily="18" charset="0"/>
                          <a:cs typeface="Times New Roman" panose="02020603050405020304" pitchFamily="18" charset="0"/>
                        </a:rPr>
                        <a:t>decisionmaking</a:t>
                      </a:r>
                      <a:r>
                        <a:rPr lang="en-US" sz="1100" dirty="0">
                          <a:effectLst/>
                          <a:latin typeface="Times New Roman" panose="02020603050405020304" pitchFamily="18" charset="0"/>
                          <a:cs typeface="Times New Roman" panose="02020603050405020304" pitchFamily="18" charset="0"/>
                        </a:rPr>
                        <a:t> in the Indian context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Limited historical data availability, challenges in representing contextual nuance, and potential algorithmic biases.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3506438260"/>
                  </a:ext>
                </a:extLst>
              </a:tr>
            </a:tbl>
          </a:graphicData>
        </a:graphic>
      </p:graphicFrame>
    </p:spTree>
    <p:extLst>
      <p:ext uri="{BB962C8B-B14F-4D97-AF65-F5344CB8AC3E}">
        <p14:creationId xmlns:p14="http://schemas.microsoft.com/office/powerpoint/2010/main" val="2545727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9</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p:cNvGraphicFramePr>
            <a:graphicFrameLocks noGrp="1"/>
          </p:cNvGraphicFramePr>
          <p:nvPr>
            <p:extLst>
              <p:ext uri="{D42A27DB-BD31-4B8C-83A1-F6EECF244321}">
                <p14:modId xmlns:p14="http://schemas.microsoft.com/office/powerpoint/2010/main" val="2438440134"/>
              </p:ext>
            </p:extLst>
          </p:nvPr>
        </p:nvGraphicFramePr>
        <p:xfrm>
          <a:off x="107506" y="1588022"/>
          <a:ext cx="8856982" cy="5201810"/>
        </p:xfrm>
        <a:graphic>
          <a:graphicData uri="http://schemas.openxmlformats.org/drawingml/2006/table">
            <a:tbl>
              <a:tblPr firstCol="1" bandRow="1">
                <a:tableStyleId>{5C22544A-7EE6-4342-B048-85BDC9FD1C3A}</a:tableStyleId>
              </a:tblPr>
              <a:tblGrid>
                <a:gridCol w="664622">
                  <a:extLst>
                    <a:ext uri="{9D8B030D-6E8A-4147-A177-3AD203B41FA5}">
                      <a16:colId xmlns:a16="http://schemas.microsoft.com/office/drawing/2014/main" val="1691960736"/>
                    </a:ext>
                  </a:extLst>
                </a:gridCol>
                <a:gridCol w="1750839">
                  <a:extLst>
                    <a:ext uri="{9D8B030D-6E8A-4147-A177-3AD203B41FA5}">
                      <a16:colId xmlns:a16="http://schemas.microsoft.com/office/drawing/2014/main" val="764689375"/>
                    </a:ext>
                  </a:extLst>
                </a:gridCol>
                <a:gridCol w="711659">
                  <a:extLst>
                    <a:ext uri="{9D8B030D-6E8A-4147-A177-3AD203B41FA5}">
                      <a16:colId xmlns:a16="http://schemas.microsoft.com/office/drawing/2014/main" val="1709917520"/>
                    </a:ext>
                  </a:extLst>
                </a:gridCol>
                <a:gridCol w="1822267">
                  <a:extLst>
                    <a:ext uri="{9D8B030D-6E8A-4147-A177-3AD203B41FA5}">
                      <a16:colId xmlns:a16="http://schemas.microsoft.com/office/drawing/2014/main" val="1751763813"/>
                    </a:ext>
                  </a:extLst>
                </a:gridCol>
                <a:gridCol w="1584466">
                  <a:extLst>
                    <a:ext uri="{9D8B030D-6E8A-4147-A177-3AD203B41FA5}">
                      <a16:colId xmlns:a16="http://schemas.microsoft.com/office/drawing/2014/main" val="1860428459"/>
                    </a:ext>
                  </a:extLst>
                </a:gridCol>
                <a:gridCol w="2323129">
                  <a:extLst>
                    <a:ext uri="{9D8B030D-6E8A-4147-A177-3AD203B41FA5}">
                      <a16:colId xmlns:a16="http://schemas.microsoft.com/office/drawing/2014/main" val="1419533133"/>
                    </a:ext>
                  </a:extLst>
                </a:gridCol>
              </a:tblGrid>
              <a:tr h="1100078">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5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Ai in legal analytics : balancing efficiency, accuracy, and ethics in contract and predictive analysis .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2023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99000"/>
                        </a:lnSpc>
                        <a:spcAft>
                          <a:spcPts val="5"/>
                        </a:spcAft>
                      </a:pPr>
                      <a:r>
                        <a:rPr lang="en-US" sz="1100">
                          <a:effectLst/>
                          <a:latin typeface="Times New Roman" panose="02020603050405020304" pitchFamily="18" charset="0"/>
                          <a:cs typeface="Times New Roman" panose="02020603050405020304" pitchFamily="18" charset="0"/>
                        </a:rPr>
                        <a:t>Analytical essay/review discussing the role, benefits,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challenges of AI in Legal Analytics, focusing on contract and predictive analysis.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marR="17145">
                        <a:lnSpc>
                          <a:spcPct val="99000"/>
                        </a:lnSpc>
                        <a:spcAft>
                          <a:spcPts val="0"/>
                        </a:spcAft>
                      </a:pPr>
                      <a:r>
                        <a:rPr lang="en-US" sz="1100">
                          <a:effectLst/>
                          <a:latin typeface="Times New Roman" panose="02020603050405020304" pitchFamily="18" charset="0"/>
                          <a:cs typeface="Times New Roman" panose="02020603050405020304" pitchFamily="18" charset="0"/>
                        </a:rPr>
                        <a:t>Analyze how AI  revolutionized the legal system, discussing shortcomings of AI systems, recommending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their integration into legal work.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gn="just">
                        <a:lnSpc>
                          <a:spcPct val="99000"/>
                        </a:lnSpc>
                        <a:spcAft>
                          <a:spcPts val="0"/>
                        </a:spcAft>
                      </a:pPr>
                      <a:r>
                        <a:rPr lang="en-US" sz="1100">
                          <a:effectLst/>
                          <a:latin typeface="Times New Roman" panose="02020603050405020304" pitchFamily="18" charset="0"/>
                          <a:cs typeface="Times New Roman" panose="02020603050405020304" pitchFamily="18" charset="0"/>
                        </a:rPr>
                        <a:t>Challenges with accuracy and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reliability  , bias and fairness from training data , issues of professional </a:t>
                      </a:r>
                      <a:endParaRPr lang="en-IN" sz="1100">
                        <a:effectLst/>
                        <a:latin typeface="Times New Roman" panose="02020603050405020304" pitchFamily="18" charset="0"/>
                        <a:cs typeface="Times New Roman" panose="02020603050405020304" pitchFamily="18" charset="0"/>
                      </a:endParaRPr>
                    </a:p>
                    <a:p>
                      <a:pPr marR="18415">
                        <a:lnSpc>
                          <a:spcPct val="107000"/>
                        </a:lnSpc>
                        <a:spcAft>
                          <a:spcPts val="0"/>
                        </a:spcAft>
                      </a:pPr>
                      <a:r>
                        <a:rPr lang="en-US" sz="1100">
                          <a:effectLst/>
                          <a:latin typeface="Times New Roman" panose="02020603050405020304" pitchFamily="18" charset="0"/>
                          <a:cs typeface="Times New Roman" panose="02020603050405020304" pitchFamily="18" charset="0"/>
                        </a:rPr>
                        <a:t>integrity/technological competence , and data privacy concerns.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extLst>
                  <a:ext uri="{0D108BD9-81ED-4DB2-BD59-A6C34878D82A}">
                    <a16:rowId xmlns:a16="http://schemas.microsoft.com/office/drawing/2014/main" val="123721677"/>
                  </a:ext>
                </a:extLst>
              </a:tr>
              <a:tr h="1329561">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6</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Artificial intelligence as  evidence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2024</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marR="26035">
                        <a:lnSpc>
                          <a:spcPct val="107000"/>
                        </a:lnSpc>
                        <a:spcAft>
                          <a:spcPts val="0"/>
                        </a:spcAft>
                      </a:pPr>
                      <a:r>
                        <a:rPr lang="en-US" sz="1100">
                          <a:effectLst/>
                          <a:latin typeface="Times New Roman" panose="02020603050405020304" pitchFamily="18" charset="0"/>
                          <a:cs typeface="Times New Roman" panose="02020603050405020304" pitchFamily="18" charset="0"/>
                        </a:rPr>
                        <a:t>Analysis of the legal and technical issues governing the admissibility of Artificial Intelligence (AI) evidence in civil and criminal trials under the Federal Rules of Evidence.</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Provide a practical overview and a systematic framework for lawyers and judges to evaluate the validity and reliability of AI evidence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Bias (in data, programming, and human interpretation), lack of robust testing for validity and reliability, function creep, lack of transparency/</a:t>
                      </a:r>
                      <a:r>
                        <a:rPr lang="en-US" sz="1100" dirty="0" err="1">
                          <a:effectLst/>
                          <a:latin typeface="Times New Roman" panose="02020603050405020304" pitchFamily="18" charset="0"/>
                          <a:cs typeface="Times New Roman" panose="02020603050405020304" pitchFamily="18" charset="0"/>
                        </a:rPr>
                        <a:t>explainability</a:t>
                      </a:r>
                      <a:r>
                        <a:rPr lang="en-US" sz="1100" dirty="0">
                          <a:effectLst/>
                          <a:latin typeface="Times New Roman" panose="02020603050405020304" pitchFamily="18" charset="0"/>
                          <a:cs typeface="Times New Roman" panose="02020603050405020304" pitchFamily="18" charset="0"/>
                        </a:rPr>
                        <a:t>, lack of accountability, and lack of resilience</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extLst>
                  <a:ext uri="{0D108BD9-81ED-4DB2-BD59-A6C34878D82A}">
                    <a16:rowId xmlns:a16="http://schemas.microsoft.com/office/drawing/2014/main" val="2628329247"/>
                  </a:ext>
                </a:extLst>
              </a:tr>
              <a:tr h="1345206">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7</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Agentic AI-Driven Process Optimization and Cost Reduction in Legal Services Using </a:t>
                      </a:r>
                      <a:r>
                        <a:rPr lang="en-US" sz="1100" dirty="0" err="1">
                          <a:effectLst/>
                          <a:latin typeface="Times New Roman" panose="02020603050405020304" pitchFamily="18" charset="0"/>
                          <a:cs typeface="Times New Roman" panose="02020603050405020304" pitchFamily="18" charset="0"/>
                        </a:rPr>
                        <a:t>DeepSeek</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2025</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Development and empirical evaluation of LegalMind, a novel agentic AI framework leveraging the DeepSeek R1 LLM for intelligent legal process automation cost reduction.</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Design implement a transformer-based agentic AI framework to perform human-like legal reasoning, enable continuous learning,</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Struggles with complex legal reasoning and ethical dilemmas, data sensitivity and privacy concerns, challenges with cross-jurisdictional adaptability, and high computational resource requirements for smaller firms.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extLst>
                  <a:ext uri="{0D108BD9-81ED-4DB2-BD59-A6C34878D82A}">
                    <a16:rowId xmlns:a16="http://schemas.microsoft.com/office/drawing/2014/main" val="2145777429"/>
                  </a:ext>
                </a:extLst>
              </a:tr>
              <a:tr h="1162477">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8</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Outcome Prediction in the Practice of Law</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2020</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Analytical article examining the traditional tools  and new data science/AI approaches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Examine traditional legal prediction tools and their limitations, describe how new data-science enhance legal outcome prediction.</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Lack of key empirical data (e.g., settlement data and detailed facts in published opinions) and extra-legal considerations  make accurate prediction difficult, even for AI.</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extLst>
                  <a:ext uri="{0D108BD9-81ED-4DB2-BD59-A6C34878D82A}">
                    <a16:rowId xmlns:a16="http://schemas.microsoft.com/office/drawing/2014/main" val="4223147954"/>
                  </a:ext>
                </a:extLst>
              </a:tr>
            </a:tbl>
          </a:graphicData>
        </a:graphic>
      </p:graphicFrame>
    </p:spTree>
    <p:extLst>
      <p:ext uri="{BB962C8B-B14F-4D97-AF65-F5344CB8AC3E}">
        <p14:creationId xmlns:p14="http://schemas.microsoft.com/office/powerpoint/2010/main" val="2660210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10</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p:cNvGraphicFramePr>
            <a:graphicFrameLocks noGrp="1"/>
          </p:cNvGraphicFramePr>
          <p:nvPr>
            <p:extLst>
              <p:ext uri="{D42A27DB-BD31-4B8C-83A1-F6EECF244321}">
                <p14:modId xmlns:p14="http://schemas.microsoft.com/office/powerpoint/2010/main" val="2205721832"/>
              </p:ext>
            </p:extLst>
          </p:nvPr>
        </p:nvGraphicFramePr>
        <p:xfrm>
          <a:off x="36513" y="1600200"/>
          <a:ext cx="8927974" cy="5004246"/>
        </p:xfrm>
        <a:graphic>
          <a:graphicData uri="http://schemas.openxmlformats.org/drawingml/2006/table">
            <a:tbl>
              <a:tblPr firstCol="1" bandRow="1">
                <a:tableStyleId>{5C22544A-7EE6-4342-B048-85BDC9FD1C3A}</a:tableStyleId>
              </a:tblPr>
              <a:tblGrid>
                <a:gridCol w="669950">
                  <a:extLst>
                    <a:ext uri="{9D8B030D-6E8A-4147-A177-3AD203B41FA5}">
                      <a16:colId xmlns:a16="http://schemas.microsoft.com/office/drawing/2014/main" val="2210344807"/>
                    </a:ext>
                  </a:extLst>
                </a:gridCol>
                <a:gridCol w="1764872">
                  <a:extLst>
                    <a:ext uri="{9D8B030D-6E8A-4147-A177-3AD203B41FA5}">
                      <a16:colId xmlns:a16="http://schemas.microsoft.com/office/drawing/2014/main" val="620658677"/>
                    </a:ext>
                  </a:extLst>
                </a:gridCol>
                <a:gridCol w="717365">
                  <a:extLst>
                    <a:ext uri="{9D8B030D-6E8A-4147-A177-3AD203B41FA5}">
                      <a16:colId xmlns:a16="http://schemas.microsoft.com/office/drawing/2014/main" val="458887391"/>
                    </a:ext>
                  </a:extLst>
                </a:gridCol>
                <a:gridCol w="1836872">
                  <a:extLst>
                    <a:ext uri="{9D8B030D-6E8A-4147-A177-3AD203B41FA5}">
                      <a16:colId xmlns:a16="http://schemas.microsoft.com/office/drawing/2014/main" val="284026964"/>
                    </a:ext>
                  </a:extLst>
                </a:gridCol>
                <a:gridCol w="1597166">
                  <a:extLst>
                    <a:ext uri="{9D8B030D-6E8A-4147-A177-3AD203B41FA5}">
                      <a16:colId xmlns:a16="http://schemas.microsoft.com/office/drawing/2014/main" val="691670141"/>
                    </a:ext>
                  </a:extLst>
                </a:gridCol>
                <a:gridCol w="2341749">
                  <a:extLst>
                    <a:ext uri="{9D8B030D-6E8A-4147-A177-3AD203B41FA5}">
                      <a16:colId xmlns:a16="http://schemas.microsoft.com/office/drawing/2014/main" val="2066729362"/>
                    </a:ext>
                  </a:extLst>
                </a:gridCol>
              </a:tblGrid>
              <a:tr h="1082462">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9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AI for legal justice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2025</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Analytical review discussing the need for and the various components of a comprehensive ethical framework for the utilization of ai in the judicial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Propose a comprehensive, multi-layered ethical framework for the use of AI in the judicial system that safeguards the rule of law, constitutional values.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The fundamental nature of the study is a theoretical proposal of an ethical framework, so it does not contain empirical/technical limitations, but addresses the risks inherent to AI in law</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extLst>
                  <a:ext uri="{0D108BD9-81ED-4DB2-BD59-A6C34878D82A}">
                    <a16:rowId xmlns:a16="http://schemas.microsoft.com/office/drawing/2014/main" val="2167734042"/>
                  </a:ext>
                </a:extLst>
              </a:tr>
              <a:tr h="886345">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10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Legal Judgment Prediction (LJP) Amid the Advent of Autonomous AI Legal Reasoning</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2023</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Analytical review investigating the risks and benefits of Algorithmic Decision Systems at the intersection of AI proposing a regulatory framework.</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Critically examine ADS risks and benefits to propose a comprehensive regulatory and ethical framework.</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Algorithmic opacity, difficulty mitigating bias, and challenges from the dynamic nature of predictive systems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extLst>
                  <a:ext uri="{0D108BD9-81ED-4DB2-BD59-A6C34878D82A}">
                    <a16:rowId xmlns:a16="http://schemas.microsoft.com/office/drawing/2014/main" val="434059132"/>
                  </a:ext>
                </a:extLst>
              </a:tr>
              <a:tr h="1376637">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11</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Legal &amp; Ethical Implications of Predictive Digital Techniques in the Judicial Criminal Proceedings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2025</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Analytical review focused on identifying and mitigating the legal and ethical challenges associated with the adoption of AI in the justice system to ensure compliance with the Rule of Law.</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Analyze the legal, ethical, and societal challenges posed by AI in the justice system (e.g., judicial and public administration) and propose solutions that respect the fundamental rights and the Rule of Law.</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Algorithmic bias/fairness, lack of transparency (black box), issues of accountability, potential for "robot judges" or a status quo effect (mechanical application of law), and concerns about the reliability of AI outputs.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extLst>
                  <a:ext uri="{0D108BD9-81ED-4DB2-BD59-A6C34878D82A}">
                    <a16:rowId xmlns:a16="http://schemas.microsoft.com/office/drawing/2014/main" val="1259457526"/>
                  </a:ext>
                </a:extLst>
              </a:tr>
              <a:tr h="1180520">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12</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Artificial intelligence in the courtroom : The delivery of JUSTICE IN THE AGE OF MACHINE LEARNING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2023</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 novel 'Predictive Justice Score' (PJS) metric to measure the predictive capacity of machine learning (ML) models in judicial decision-making, along with a discussion of ethical and legal concerns.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Propose a new metric, the Predictive Justice Score (PJS), for evaluating the capability of ML algorithms to predict judicial decisions and discuss the related legal and ethical challenges.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Lack of a definitive 'Ground Truth' in judicial decisions for comparison, susceptibility to data bias and algorithmic opacity, and the challenge of incorporating the nuance of constitutional and legal interpretation into quantitative metrics like the PJS.</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extLst>
                  <a:ext uri="{0D108BD9-81ED-4DB2-BD59-A6C34878D82A}">
                    <a16:rowId xmlns:a16="http://schemas.microsoft.com/office/drawing/2014/main" val="2178424800"/>
                  </a:ext>
                </a:extLst>
              </a:tr>
            </a:tbl>
          </a:graphicData>
        </a:graphic>
      </p:graphicFrame>
    </p:spTree>
    <p:extLst>
      <p:ext uri="{BB962C8B-B14F-4D97-AF65-F5344CB8AC3E}">
        <p14:creationId xmlns:p14="http://schemas.microsoft.com/office/powerpoint/2010/main" val="3504503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11</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9285" y="1582511"/>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Implementation of Work / Result</a:t>
            </a:r>
          </a:p>
        </p:txBody>
      </p:sp>
      <p:pic>
        <p:nvPicPr>
          <p:cNvPr id="5" name="Picture 4">
            <a:extLst>
              <a:ext uri="{FF2B5EF4-FFF2-40B4-BE49-F238E27FC236}">
                <a16:creationId xmlns:a16="http://schemas.microsoft.com/office/drawing/2014/main" id="{4D703A66-23CF-57D3-A9A3-64B9E4E5E3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1520" y="2300371"/>
            <a:ext cx="8712968" cy="3792925"/>
          </a:xfrm>
          <a:prstGeom prst="rect">
            <a:avLst/>
          </a:prstGeom>
        </p:spPr>
      </p:pic>
    </p:spTree>
    <p:extLst>
      <p:ext uri="{BB962C8B-B14F-4D97-AF65-F5344CB8AC3E}">
        <p14:creationId xmlns:p14="http://schemas.microsoft.com/office/powerpoint/2010/main" val="2203378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55BC6-21DE-07FD-8731-7B5886010293}"/>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BC5A1DD7-1679-2B1A-BE7A-EBB2FC8FB55C}"/>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C450B3D3-8620-BDF2-A444-DFC659D750C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7B3C44ED-C315-4588-813A-DEEA2C046B33}"/>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AC54C80F-A69C-C310-433A-FDA84990D3A4}"/>
              </a:ext>
            </a:extLst>
          </p:cNvPr>
          <p:cNvSpPr>
            <a:spLocks noGrp="1"/>
          </p:cNvSpPr>
          <p:nvPr>
            <p:ph type="sldNum" sz="quarter" idx="12"/>
          </p:nvPr>
        </p:nvSpPr>
        <p:spPr/>
        <p:txBody>
          <a:bodyPr/>
          <a:lstStyle/>
          <a:p>
            <a:fld id="{1EC248AB-E565-412B-9D95-9B07D6A4F3F3}" type="slidenum">
              <a:rPr lang="en-GB" b="1" smtClean="0">
                <a:solidFill>
                  <a:schemeClr val="tx1"/>
                </a:solidFill>
              </a:rPr>
              <a:pPr/>
              <a:t>12</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5374F043-E337-ABA3-10F3-1730FC7E0B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D7B89A7-D202-8B58-AF0E-A7A84CE49A4B}"/>
              </a:ext>
            </a:extLst>
          </p:cNvPr>
          <p:cNvSpPr/>
          <p:nvPr/>
        </p:nvSpPr>
        <p:spPr>
          <a:xfrm>
            <a:off x="59285" y="1582511"/>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Implementation of Work / Result</a:t>
            </a:r>
          </a:p>
        </p:txBody>
      </p:sp>
      <p:pic>
        <p:nvPicPr>
          <p:cNvPr id="6" name="Picture 5">
            <a:extLst>
              <a:ext uri="{FF2B5EF4-FFF2-40B4-BE49-F238E27FC236}">
                <a16:creationId xmlns:a16="http://schemas.microsoft.com/office/drawing/2014/main" id="{D747C7B4-F086-2B22-49DC-4BAB72867A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55976" y="2258412"/>
            <a:ext cx="4788024" cy="3906892"/>
          </a:xfrm>
          <a:prstGeom prst="rect">
            <a:avLst/>
          </a:prstGeom>
        </p:spPr>
      </p:pic>
      <p:pic>
        <p:nvPicPr>
          <p:cNvPr id="9" name="Picture 8">
            <a:extLst>
              <a:ext uri="{FF2B5EF4-FFF2-40B4-BE49-F238E27FC236}">
                <a16:creationId xmlns:a16="http://schemas.microsoft.com/office/drawing/2014/main" id="{0A1720EB-6911-5434-047C-F005D26B6BE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7505" y="2210679"/>
            <a:ext cx="4104456" cy="4026633"/>
          </a:xfrm>
          <a:prstGeom prst="rect">
            <a:avLst/>
          </a:prstGeom>
        </p:spPr>
      </p:pic>
    </p:spTree>
    <p:extLst>
      <p:ext uri="{BB962C8B-B14F-4D97-AF65-F5344CB8AC3E}">
        <p14:creationId xmlns:p14="http://schemas.microsoft.com/office/powerpoint/2010/main" val="4214793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06A64-7036-F600-ED7F-B1CC7ECFDD33}"/>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3C7AF4BC-54DB-5E0A-26A3-F7608F43B127}"/>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F46B677F-0FD3-9EE8-EC49-A7010FB638B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4D0D5A15-9997-9C7E-1F1D-B6F29717AFEF}"/>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EDDDC30D-2C43-04A4-92A7-228C90274E33}"/>
              </a:ext>
            </a:extLst>
          </p:cNvPr>
          <p:cNvSpPr>
            <a:spLocks noGrp="1"/>
          </p:cNvSpPr>
          <p:nvPr>
            <p:ph type="sldNum" sz="quarter" idx="12"/>
          </p:nvPr>
        </p:nvSpPr>
        <p:spPr/>
        <p:txBody>
          <a:bodyPr/>
          <a:lstStyle/>
          <a:p>
            <a:fld id="{1EC248AB-E565-412B-9D95-9B07D6A4F3F3}" type="slidenum">
              <a:rPr lang="en-GB" b="1" smtClean="0">
                <a:solidFill>
                  <a:schemeClr val="tx1"/>
                </a:solidFill>
              </a:rPr>
              <a:pPr/>
              <a:t>13</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8FFFF97C-6410-3430-934D-F40037FEEC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CF91F948-9D4F-DBFC-7A3D-D4B513A0E898}"/>
              </a:ext>
            </a:extLst>
          </p:cNvPr>
          <p:cNvSpPr/>
          <p:nvPr/>
        </p:nvSpPr>
        <p:spPr>
          <a:xfrm>
            <a:off x="59285" y="1582511"/>
            <a:ext cx="9084715" cy="584775"/>
          </a:xfrm>
          <a:prstGeom prst="rect">
            <a:avLst/>
          </a:prstGeom>
        </p:spPr>
        <p:txBody>
          <a:bodyPr wrap="square">
            <a:spAutoFit/>
          </a:bodyPr>
          <a:lstStyle/>
          <a:p>
            <a:pPr algn="ctr">
              <a:buNone/>
            </a:pPr>
            <a:r>
              <a:rPr lang="en-US" sz="3200" b="1" dirty="0"/>
              <a:t>Conclusion </a:t>
            </a:r>
            <a:endParaRPr lang="en-US" sz="3200" dirty="0"/>
          </a:p>
        </p:txBody>
      </p:sp>
      <p:sp>
        <p:nvSpPr>
          <p:cNvPr id="6" name="TextBox 5">
            <a:extLst>
              <a:ext uri="{FF2B5EF4-FFF2-40B4-BE49-F238E27FC236}">
                <a16:creationId xmlns:a16="http://schemas.microsoft.com/office/drawing/2014/main" id="{4EEE1FBC-51B1-BA50-A167-24FBA0790B3F}"/>
              </a:ext>
            </a:extLst>
          </p:cNvPr>
          <p:cNvSpPr txBox="1"/>
          <p:nvPr/>
        </p:nvSpPr>
        <p:spPr>
          <a:xfrm>
            <a:off x="324036" y="2767280"/>
            <a:ext cx="8568952" cy="1938992"/>
          </a:xfrm>
          <a:prstGeom prst="rect">
            <a:avLst/>
          </a:prstGeom>
          <a:noFill/>
        </p:spPr>
        <p:txBody>
          <a:bodyPr wrap="square">
            <a:spAutoFit/>
          </a:bodyPr>
          <a:lstStyle/>
          <a:p>
            <a:pPr marL="285750" indent="-285750" algn="just">
              <a:buFont typeface="Arial" panose="020B0604020202020204" pitchFamily="34" charset="0"/>
              <a:buChar char="•"/>
            </a:pPr>
            <a:r>
              <a:rPr lang="en-US" sz="2000" dirty="0"/>
              <a:t>We successfully engineered a production-ready Legal AI platform capable of parsing unstructured PDFs, dynamically updating historical laws (IPC to BNS), and predicting appellate outcomes with 85.2% accuracy.</a:t>
            </a:r>
          </a:p>
          <a:p>
            <a:pPr marL="285750" indent="-285750" algn="just">
              <a:buFont typeface="Arial" panose="020B0604020202020204" pitchFamily="34" charset="0"/>
              <a:buChar char="•"/>
            </a:pPr>
            <a:r>
              <a:rPr lang="en-US" sz="2000" dirty="0"/>
              <a:t>By integrating NER-filtered Explainable AI (SHAP) and deploying it on a secure cloud architecture, we transformed a theoretical deep learning model into a practical, highly transparent decision-support tool for Indian lawyers.</a:t>
            </a:r>
          </a:p>
        </p:txBody>
      </p:sp>
    </p:spTree>
    <p:extLst>
      <p:ext uri="{BB962C8B-B14F-4D97-AF65-F5344CB8AC3E}">
        <p14:creationId xmlns:p14="http://schemas.microsoft.com/office/powerpoint/2010/main" val="2364606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ADA96-888E-B163-C68B-134BCCF3C0C8}"/>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3F658E5E-8CC0-6B65-E1E0-6136990A873A}"/>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F8B94E18-2C06-B403-8204-2742A86961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902A4811-CDE4-4C4B-3736-E886CAF54051}"/>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5DA8F65C-B150-9706-5D88-67F11715D085}"/>
              </a:ext>
            </a:extLst>
          </p:cNvPr>
          <p:cNvSpPr>
            <a:spLocks noGrp="1"/>
          </p:cNvSpPr>
          <p:nvPr>
            <p:ph type="sldNum" sz="quarter" idx="12"/>
          </p:nvPr>
        </p:nvSpPr>
        <p:spPr/>
        <p:txBody>
          <a:bodyPr/>
          <a:lstStyle/>
          <a:p>
            <a:fld id="{1EC248AB-E565-412B-9D95-9B07D6A4F3F3}" type="slidenum">
              <a:rPr lang="en-GB" b="1" smtClean="0">
                <a:solidFill>
                  <a:schemeClr val="tx1"/>
                </a:solidFill>
              </a:rPr>
              <a:pPr/>
              <a:t>14</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4FA3F2F6-36D8-26D9-125D-BA854109A7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081B6C7-181C-EAE1-BA63-C14DADD14F20}"/>
              </a:ext>
            </a:extLst>
          </p:cNvPr>
          <p:cNvSpPr/>
          <p:nvPr/>
        </p:nvSpPr>
        <p:spPr>
          <a:xfrm>
            <a:off x="59285" y="1582511"/>
            <a:ext cx="9084715" cy="584775"/>
          </a:xfrm>
          <a:prstGeom prst="rect">
            <a:avLst/>
          </a:prstGeom>
        </p:spPr>
        <p:txBody>
          <a:bodyPr wrap="square">
            <a:spAutoFit/>
          </a:bodyPr>
          <a:lstStyle/>
          <a:p>
            <a:pPr algn="ctr">
              <a:buNone/>
            </a:pPr>
            <a:r>
              <a:rPr lang="en-US" sz="3200" b="1" dirty="0"/>
              <a:t>Future Scope</a:t>
            </a:r>
            <a:endParaRPr lang="en-US" sz="3200" dirty="0"/>
          </a:p>
        </p:txBody>
      </p:sp>
      <p:sp>
        <p:nvSpPr>
          <p:cNvPr id="6" name="TextBox 5">
            <a:extLst>
              <a:ext uri="{FF2B5EF4-FFF2-40B4-BE49-F238E27FC236}">
                <a16:creationId xmlns:a16="http://schemas.microsoft.com/office/drawing/2014/main" id="{EADE0FC9-730C-B2D2-D531-5DF3B05277A5}"/>
              </a:ext>
            </a:extLst>
          </p:cNvPr>
          <p:cNvSpPr txBox="1"/>
          <p:nvPr/>
        </p:nvSpPr>
        <p:spPr>
          <a:xfrm>
            <a:off x="317166" y="2564904"/>
            <a:ext cx="8568952" cy="2554545"/>
          </a:xfrm>
          <a:prstGeom prst="rect">
            <a:avLst/>
          </a:prstGeom>
          <a:noFill/>
        </p:spPr>
        <p:txBody>
          <a:bodyPr wrap="square">
            <a:spAutoFit/>
          </a:bodyPr>
          <a:lstStyle/>
          <a:p>
            <a:pPr marL="285750" indent="-285750" algn="just">
              <a:buFont typeface="Arial" panose="020B0604020202020204" pitchFamily="34" charset="0"/>
              <a:buChar char="•"/>
            </a:pPr>
            <a:r>
              <a:rPr lang="en-US" sz="2000" dirty="0"/>
              <a:t>Generative AI Integration: Implementing Large Language Models (LLMs) to automatically generate plain-English summaries of complex judgments alongside the predictions.</a:t>
            </a:r>
          </a:p>
          <a:p>
            <a:pPr marL="285750" indent="-285750" algn="just">
              <a:buFont typeface="Arial" panose="020B0604020202020204" pitchFamily="34" charset="0"/>
              <a:buChar char="•"/>
            </a:pPr>
            <a:r>
              <a:rPr lang="en-US" sz="2000" dirty="0"/>
              <a:t>Regional Expansion: Expanding our JSON mapping dictionaries to include regional state laws and multilingual High Court translations (Marathi, Hindi).</a:t>
            </a:r>
          </a:p>
          <a:p>
            <a:pPr marL="285750" indent="-285750" algn="just">
              <a:buFont typeface="Arial" panose="020B0604020202020204" pitchFamily="34" charset="0"/>
              <a:buChar char="•"/>
            </a:pPr>
            <a:r>
              <a:rPr lang="en-US" sz="2000" dirty="0"/>
              <a:t>Frontend Migration: Rebuilding the Streamlit UI in React.js or Next.js to provide a seamless, native mobile application experience for practicing lawyers on the go.</a:t>
            </a:r>
          </a:p>
        </p:txBody>
      </p:sp>
    </p:spTree>
    <p:extLst>
      <p:ext uri="{BB962C8B-B14F-4D97-AF65-F5344CB8AC3E}">
        <p14:creationId xmlns:p14="http://schemas.microsoft.com/office/powerpoint/2010/main" val="1132998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15</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7581" y="1385277"/>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References</a:t>
            </a:r>
          </a:p>
        </p:txBody>
      </p:sp>
      <p:sp>
        <p:nvSpPr>
          <p:cNvPr id="4" name="Rectangle 3"/>
          <p:cNvSpPr/>
          <p:nvPr/>
        </p:nvSpPr>
        <p:spPr>
          <a:xfrm>
            <a:off x="251520" y="2060848"/>
            <a:ext cx="8568952" cy="4524315"/>
          </a:xfrm>
          <a:prstGeom prst="rect">
            <a:avLst/>
          </a:prstGeom>
        </p:spPr>
        <p:txBody>
          <a:bodyPr wrap="square">
            <a:spAutoFit/>
          </a:bodyPr>
          <a:lstStyle/>
          <a:p>
            <a:pPr algn="just"/>
            <a:r>
              <a:rPr lang="en-IN" dirty="0">
                <a:latin typeface="Times New Roman" panose="02020603050405020304" pitchFamily="18" charset="0"/>
                <a:cs typeface="Times New Roman" panose="02020603050405020304" pitchFamily="18" charset="0"/>
              </a:rPr>
              <a:t>[1] </a:t>
            </a:r>
            <a:r>
              <a:rPr lang="en-IN" dirty="0" err="1">
                <a:latin typeface="Times New Roman" panose="02020603050405020304" pitchFamily="18" charset="0"/>
                <a:cs typeface="Times New Roman" panose="02020603050405020304" pitchFamily="18" charset="0"/>
              </a:rPr>
              <a:t>Chalkidis</a:t>
            </a:r>
            <a:r>
              <a:rPr lang="en-IN" dirty="0">
                <a:latin typeface="Times New Roman" panose="02020603050405020304" pitchFamily="18" charset="0"/>
                <a:cs typeface="Times New Roman" panose="02020603050405020304" pitchFamily="18" charset="0"/>
              </a:rPr>
              <a:t>, I., </a:t>
            </a:r>
            <a:r>
              <a:rPr lang="en-IN" dirty="0" err="1">
                <a:latin typeface="Times New Roman" panose="02020603050405020304" pitchFamily="18" charset="0"/>
                <a:cs typeface="Times New Roman" panose="02020603050405020304" pitchFamily="18" charset="0"/>
              </a:rPr>
              <a:t>Fergadiotis</a:t>
            </a:r>
            <a:r>
              <a:rPr lang="en-IN" dirty="0">
                <a:latin typeface="Times New Roman" panose="02020603050405020304" pitchFamily="18" charset="0"/>
                <a:cs typeface="Times New Roman" panose="02020603050405020304" pitchFamily="18" charset="0"/>
              </a:rPr>
              <a:t>, M., </a:t>
            </a:r>
            <a:r>
              <a:rPr lang="en-IN" dirty="0" err="1">
                <a:latin typeface="Times New Roman" panose="02020603050405020304" pitchFamily="18" charset="0"/>
                <a:cs typeface="Times New Roman" panose="02020603050405020304" pitchFamily="18" charset="0"/>
              </a:rPr>
              <a:t>Malakasiotis</a:t>
            </a:r>
            <a:r>
              <a:rPr lang="en-IN" dirty="0">
                <a:latin typeface="Times New Roman" panose="02020603050405020304" pitchFamily="18" charset="0"/>
                <a:cs typeface="Times New Roman" panose="02020603050405020304" pitchFamily="18" charset="0"/>
              </a:rPr>
              <a:t>, P., Hamel, J., &amp; </a:t>
            </a:r>
            <a:r>
              <a:rPr lang="en-IN" dirty="0" err="1">
                <a:latin typeface="Times New Roman" panose="02020603050405020304" pitchFamily="18" charset="0"/>
                <a:cs typeface="Times New Roman" panose="02020603050405020304" pitchFamily="18" charset="0"/>
              </a:rPr>
              <a:t>Androutsopoulos</a:t>
            </a:r>
            <a:r>
              <a:rPr lang="en-IN" dirty="0">
                <a:latin typeface="Times New Roman" panose="02020603050405020304" pitchFamily="18" charset="0"/>
                <a:cs typeface="Times New Roman" panose="02020603050405020304" pitchFamily="18" charset="0"/>
              </a:rPr>
              <a:t>, I. (2020). LEGAL-BERT: “Preparing the Muppets for Court”. In Findings of the Association for Computational Linguistics: EMNLP 2020, pages 2598–2612, Online. Association for Computational Linguistics.</a:t>
            </a:r>
          </a:p>
          <a:p>
            <a:pPr algn="just"/>
            <a:r>
              <a:rPr lang="en-IN" dirty="0">
                <a:latin typeface="Times New Roman" panose="02020603050405020304" pitchFamily="18" charset="0"/>
                <a:cs typeface="Times New Roman" panose="02020603050405020304" pitchFamily="18" charset="0"/>
              </a:rPr>
              <a:t>[2] Cao, L., Wang, Z., Xiao, C., &amp; Sun, J. (2024). PILOT: Legal Case Outcome Prediction with Case Law. In Proceedings of the 2024 Conference of the North American Chapter of the Association for Computational Linguistics: Human Language Technologies (Volume 1: Long Papers), pages 609–621, Mexico City, Mexico. Association for Computational </a:t>
            </a:r>
          </a:p>
          <a:p>
            <a:pPr algn="just"/>
            <a:r>
              <a:rPr lang="en-IN" dirty="0">
                <a:latin typeface="Times New Roman" panose="02020603050405020304" pitchFamily="18" charset="0"/>
                <a:cs typeface="Times New Roman" panose="02020603050405020304" pitchFamily="18" charset="0"/>
              </a:rPr>
              <a:t>Linguistics. </a:t>
            </a:r>
          </a:p>
          <a:p>
            <a:pPr algn="just"/>
            <a:r>
              <a:rPr lang="en-IN" dirty="0">
                <a:latin typeface="Times New Roman" panose="02020603050405020304" pitchFamily="18" charset="0"/>
                <a:cs typeface="Times New Roman" panose="02020603050405020304" pitchFamily="18" charset="0"/>
              </a:rPr>
              <a:t>[3] Sharma, S., Shandilya, R., &amp; Sharma, S. (2021). Predicting Indian Supreme Court Judgments, Decisions, Or Appeals. </a:t>
            </a:r>
            <a:r>
              <a:rPr lang="en-IN" dirty="0" err="1">
                <a:latin typeface="Times New Roman" panose="02020603050405020304" pitchFamily="18" charset="0"/>
                <a:cs typeface="Times New Roman" panose="02020603050405020304" pitchFamily="18" charset="0"/>
              </a:rPr>
              <a:t>arXiv</a:t>
            </a:r>
            <a:r>
              <a:rPr lang="en-IN" dirty="0">
                <a:latin typeface="Times New Roman" panose="02020603050405020304" pitchFamily="18" charset="0"/>
                <a:cs typeface="Times New Roman" panose="02020603050405020304" pitchFamily="18" charset="0"/>
              </a:rPr>
              <a:t> preprint arXiv:2110.09251. </a:t>
            </a:r>
          </a:p>
          <a:p>
            <a:pPr algn="just"/>
            <a:r>
              <a:rPr lang="en-IN" dirty="0">
                <a:latin typeface="Times New Roman" panose="02020603050405020304" pitchFamily="18" charset="0"/>
                <a:cs typeface="Times New Roman" panose="02020603050405020304" pitchFamily="18" charset="0"/>
              </a:rPr>
              <a:t>[4] </a:t>
            </a:r>
            <a:r>
              <a:rPr lang="en-IN" dirty="0" err="1">
                <a:latin typeface="Times New Roman" panose="02020603050405020304" pitchFamily="18" charset="0"/>
                <a:cs typeface="Times New Roman" panose="02020603050405020304" pitchFamily="18" charset="0"/>
              </a:rPr>
              <a:t>Alghazzawi</a:t>
            </a:r>
            <a:r>
              <a:rPr lang="en-IN" dirty="0">
                <a:latin typeface="Times New Roman" panose="02020603050405020304" pitchFamily="18" charset="0"/>
                <a:cs typeface="Times New Roman" panose="02020603050405020304" pitchFamily="18" charset="0"/>
              </a:rPr>
              <a:t>, D., </a:t>
            </a:r>
            <a:r>
              <a:rPr lang="en-IN" dirty="0" err="1">
                <a:latin typeface="Times New Roman" panose="02020603050405020304" pitchFamily="18" charset="0"/>
                <a:cs typeface="Times New Roman" panose="02020603050405020304" pitchFamily="18" charset="0"/>
              </a:rPr>
              <a:t>Alghamdi</a:t>
            </a:r>
            <a:r>
              <a:rPr lang="en-IN" dirty="0">
                <a:latin typeface="Times New Roman" panose="02020603050405020304" pitchFamily="18" charset="0"/>
                <a:cs typeface="Times New Roman" panose="02020603050405020304" pitchFamily="18" charset="0"/>
              </a:rPr>
              <a:t>, R., </a:t>
            </a:r>
            <a:r>
              <a:rPr lang="en-IN" dirty="0" err="1">
                <a:latin typeface="Times New Roman" panose="02020603050405020304" pitchFamily="18" charset="0"/>
                <a:cs typeface="Times New Roman" panose="02020603050405020304" pitchFamily="18" charset="0"/>
              </a:rPr>
              <a:t>Alotaibi</a:t>
            </a:r>
            <a:r>
              <a:rPr lang="en-IN" dirty="0">
                <a:latin typeface="Times New Roman" panose="02020603050405020304" pitchFamily="18" charset="0"/>
                <a:cs typeface="Times New Roman" panose="02020603050405020304" pitchFamily="18" charset="0"/>
              </a:rPr>
              <a:t>, A., &amp; El-Din, A. M. B. (2022). Efficient Prediction of Court Judgments Using an LSTM+CNN Neural Network Model with an Optimal Feature Set. Mathematics, 10(5), 683. </a:t>
            </a:r>
          </a:p>
          <a:p>
            <a:pPr algn="just"/>
            <a:r>
              <a:rPr lang="en-IN" dirty="0">
                <a:latin typeface="Times New Roman" panose="02020603050405020304" pitchFamily="18" charset="0"/>
                <a:cs typeface="Times New Roman" panose="02020603050405020304" pitchFamily="18" charset="0"/>
              </a:rPr>
              <a:t>[5] Schafer, B., </a:t>
            </a:r>
            <a:r>
              <a:rPr lang="en-IN" dirty="0" err="1">
                <a:latin typeface="Times New Roman" panose="02020603050405020304" pitchFamily="18" charset="0"/>
                <a:cs typeface="Times New Roman" panose="02020603050405020304" pitchFamily="18" charset="0"/>
              </a:rPr>
              <a:t>Middelton</a:t>
            </a:r>
            <a:r>
              <a:rPr lang="en-IN" dirty="0">
                <a:latin typeface="Times New Roman" panose="02020603050405020304" pitchFamily="18" charset="0"/>
                <a:cs typeface="Times New Roman" panose="02020603050405020304" pitchFamily="18" charset="0"/>
              </a:rPr>
              <a:t>, C., &amp; Schafer, R. (2023). Explainable AI and Law: An Evidential Survey. Artificial Intelligence and Law, 31(4), 589-623. </a:t>
            </a:r>
          </a:p>
        </p:txBody>
      </p:sp>
    </p:spTree>
    <p:extLst>
      <p:ext uri="{BB962C8B-B14F-4D97-AF65-F5344CB8AC3E}">
        <p14:creationId xmlns:p14="http://schemas.microsoft.com/office/powerpoint/2010/main" val="2246497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F1350-6769-F27D-9D1F-353D057AC4B4}"/>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15D61D62-D588-DA4B-00F0-1FF44927A44C}"/>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EEAE12A4-4EDB-E9E5-730B-2321A1E5D9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314864F0-7392-BD31-41BE-FDC84636E48A}"/>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FD2341C-3F12-81BB-ECDF-6262DA21AA3B}"/>
              </a:ext>
            </a:extLst>
          </p:cNvPr>
          <p:cNvSpPr>
            <a:spLocks noGrp="1"/>
          </p:cNvSpPr>
          <p:nvPr>
            <p:ph type="sldNum" sz="quarter" idx="12"/>
          </p:nvPr>
        </p:nvSpPr>
        <p:spPr/>
        <p:txBody>
          <a:bodyPr/>
          <a:lstStyle/>
          <a:p>
            <a:fld id="{1EC248AB-E565-412B-9D95-9B07D6A4F3F3}" type="slidenum">
              <a:rPr lang="en-GB" b="1" smtClean="0">
                <a:solidFill>
                  <a:schemeClr val="tx1"/>
                </a:solidFill>
              </a:rPr>
              <a:pPr/>
              <a:t>16</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E2EA2F63-9A9B-9FD2-7921-75D901B4A2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B04064D-B525-5388-DE18-B449142A8351}"/>
              </a:ext>
            </a:extLst>
          </p:cNvPr>
          <p:cNvSpPr/>
          <p:nvPr/>
        </p:nvSpPr>
        <p:spPr>
          <a:xfrm>
            <a:off x="37581" y="1385277"/>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References</a:t>
            </a:r>
          </a:p>
        </p:txBody>
      </p:sp>
      <p:sp>
        <p:nvSpPr>
          <p:cNvPr id="4" name="Rectangle 3">
            <a:extLst>
              <a:ext uri="{FF2B5EF4-FFF2-40B4-BE49-F238E27FC236}">
                <a16:creationId xmlns:a16="http://schemas.microsoft.com/office/drawing/2014/main" id="{EA85EB4D-1E59-00E7-5193-D0800076ABFA}"/>
              </a:ext>
            </a:extLst>
          </p:cNvPr>
          <p:cNvSpPr/>
          <p:nvPr/>
        </p:nvSpPr>
        <p:spPr>
          <a:xfrm>
            <a:off x="251520" y="2060848"/>
            <a:ext cx="8568952" cy="4539704"/>
          </a:xfrm>
          <a:prstGeom prst="rect">
            <a:avLst/>
          </a:prstGeom>
        </p:spPr>
        <p:txBody>
          <a:bodyPr wrap="square">
            <a:spAutoFit/>
          </a:bodyPr>
          <a:lstStyle/>
          <a:p>
            <a:pPr algn="just"/>
            <a:r>
              <a:rPr lang="en-IN" sz="1700" dirty="0"/>
              <a:t>[6] Malik, V., Sanjay, R., Nigam, S. K., Ghosh, K., Guha, A. K., Bhattacharya, A., &amp; Modi, A. (2021). ILDC for CJPE: Indian Legal Documents Corpus for Court Judgment Prediction and Explanation. In Proceedings of the 59th Annual Meeting of the Association for Computational Linguistics (ACL), pages 4046–4062.</a:t>
            </a:r>
          </a:p>
          <a:p>
            <a:pPr algn="just"/>
            <a:r>
              <a:rPr lang="en-IN" sz="1700" dirty="0"/>
              <a:t>[7] Nigam, S. K., Kumar, A., &amp; Bhattacharya, A. (2024). </a:t>
            </a:r>
            <a:r>
              <a:rPr lang="en-IN" sz="1700" dirty="0" err="1"/>
              <a:t>NyayaAnumana</a:t>
            </a:r>
            <a:r>
              <a:rPr lang="en-IN" sz="1700" dirty="0"/>
              <a:t> &amp; </a:t>
            </a:r>
            <a:r>
              <a:rPr lang="en-IN" sz="1700" dirty="0" err="1"/>
              <a:t>INLegalLlama</a:t>
            </a:r>
            <a:r>
              <a:rPr lang="en-IN" sz="1700" dirty="0"/>
              <a:t>: The Largest Indian Legal Judgment Prediction Dataset. </a:t>
            </a:r>
            <a:r>
              <a:rPr lang="en-IN" sz="1700" dirty="0" err="1"/>
              <a:t>arXiv</a:t>
            </a:r>
            <a:r>
              <a:rPr lang="en-IN" sz="1700" dirty="0"/>
              <a:t> preprint arXiv:2412.08385.</a:t>
            </a:r>
          </a:p>
          <a:p>
            <a:pPr algn="just"/>
            <a:r>
              <a:rPr lang="en-IN" sz="1700" dirty="0"/>
              <a:t>[8] Sahoo, S., </a:t>
            </a:r>
            <a:r>
              <a:rPr lang="en-IN" sz="1700" dirty="0" err="1"/>
              <a:t>Pattnaik</a:t>
            </a:r>
            <a:r>
              <a:rPr lang="en-IN" sz="1700" dirty="0"/>
              <a:t>, M., &amp; Das, A. (2023). A Comprehensive Analysis of Indian Legal Documents Summarization Techniques. Neural Computing and Applications, 35(21), 14611–14631.</a:t>
            </a:r>
          </a:p>
          <a:p>
            <a:pPr algn="just"/>
            <a:r>
              <a:rPr lang="en-IN" sz="1700" dirty="0"/>
              <a:t>[9] Katz, D. M., Bommarito, M. J., &amp; Blackman, J. (2017). A General Approach for Predicting the </a:t>
            </a:r>
            <a:r>
              <a:rPr lang="en-IN" sz="1700" dirty="0" err="1"/>
              <a:t>Behavior</a:t>
            </a:r>
            <a:r>
              <a:rPr lang="en-IN" sz="1700" dirty="0"/>
              <a:t> of the Supreme Court of the United States. PLOS ONE, 12(4), e0174185.</a:t>
            </a:r>
          </a:p>
          <a:p>
            <a:pPr algn="just"/>
            <a:r>
              <a:rPr lang="en-IN" sz="1700" dirty="0"/>
              <a:t>[10] Liu, Y., Zhang, W., Zhang, M., Ding, X., &amp; Fan, X. (2022). Legal Text Recognition Using LSTM-CRF Deep Learning Model. Computational Intelligence and Neuroscience, 2022, 1–10.</a:t>
            </a:r>
          </a:p>
          <a:p>
            <a:pPr algn="just"/>
            <a:r>
              <a:rPr lang="en-IN" sz="1700" dirty="0"/>
              <a:t>[11] </a:t>
            </a:r>
            <a:r>
              <a:rPr lang="en-IN" sz="1700" dirty="0" err="1"/>
              <a:t>Savelka</a:t>
            </a:r>
            <a:r>
              <a:rPr lang="en-IN" sz="1700" dirty="0"/>
              <a:t>, J., &amp; Ashley, K. (2023). Leveraging Large Language Models for Legal Text Prediction. Artificial Intelligence and Law, 32(1), 1-25.</a:t>
            </a:r>
          </a:p>
          <a:p>
            <a:pPr algn="just"/>
            <a:r>
              <a:rPr lang="en-IN" sz="1700" dirty="0"/>
              <a:t>[12] Ashley, K. D. (2017). Artificial Intelligence and Legal Analytics: New Tools for Law Practice in the Digital Age. Cambridge University Press.</a:t>
            </a:r>
          </a:p>
        </p:txBody>
      </p:sp>
    </p:spTree>
    <p:extLst>
      <p:ext uri="{BB962C8B-B14F-4D97-AF65-F5344CB8AC3E}">
        <p14:creationId xmlns:p14="http://schemas.microsoft.com/office/powerpoint/2010/main" val="3277529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3027</TotalTime>
  <Words>2916</Words>
  <Application>Microsoft Office PowerPoint</Application>
  <PresentationFormat>On-screen Show (4:3)</PresentationFormat>
  <Paragraphs>278</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Kevin Hickey</dc:creator>
  <cp:lastModifiedBy>Nikhil Raghuvanshi</cp:lastModifiedBy>
  <cp:revision>104</cp:revision>
  <dcterms:created xsi:type="dcterms:W3CDTF">2010-06-24T14:41:07Z</dcterms:created>
  <dcterms:modified xsi:type="dcterms:W3CDTF">2026-03-29T07:35:44Z</dcterms:modified>
</cp:coreProperties>
</file>